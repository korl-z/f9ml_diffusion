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sldIdLst>
    <p:sldId id="256" r:id="rId2"/>
    <p:sldId id="272" r:id="rId3"/>
    <p:sldId id="283" r:id="rId4"/>
    <p:sldId id="265" r:id="rId5"/>
    <p:sldId id="262" r:id="rId6"/>
    <p:sldId id="269" r:id="rId7"/>
    <p:sldId id="257" r:id="rId8"/>
    <p:sldId id="258" r:id="rId9"/>
    <p:sldId id="261" r:id="rId10"/>
    <p:sldId id="267" r:id="rId11"/>
    <p:sldId id="268" r:id="rId12"/>
    <p:sldId id="271" r:id="rId13"/>
    <p:sldId id="260" r:id="rId14"/>
    <p:sldId id="275" r:id="rId15"/>
    <p:sldId id="264" r:id="rId16"/>
    <p:sldId id="259" r:id="rId17"/>
    <p:sldId id="284" r:id="rId18"/>
    <p:sldId id="266" r:id="rId19"/>
    <p:sldId id="282" r:id="rId20"/>
    <p:sldId id="279" r:id="rId21"/>
    <p:sldId id="281" r:id="rId22"/>
    <p:sldId id="270" r:id="rId23"/>
    <p:sldId id="273" r:id="rId24"/>
    <p:sldId id="274" r:id="rId25"/>
    <p:sldId id="280" r:id="rId26"/>
    <p:sldId id="276" r:id="rId27"/>
    <p:sldId id="277" r:id="rId28"/>
    <p:sldId id="278" r:id="rId29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ivzeti razdelek" id="{5CA58D1D-B5B0-402A-A84E-3C95D7528BDB}">
          <p14:sldIdLst>
            <p14:sldId id="256"/>
            <p14:sldId id="272"/>
            <p14:sldId id="283"/>
            <p14:sldId id="265"/>
            <p14:sldId id="262"/>
            <p14:sldId id="269"/>
            <p14:sldId id="257"/>
            <p14:sldId id="258"/>
            <p14:sldId id="261"/>
            <p14:sldId id="267"/>
            <p14:sldId id="268"/>
            <p14:sldId id="271"/>
            <p14:sldId id="260"/>
            <p14:sldId id="275"/>
            <p14:sldId id="264"/>
            <p14:sldId id="259"/>
            <p14:sldId id="284"/>
            <p14:sldId id="266"/>
            <p14:sldId id="282"/>
            <p14:sldId id="279"/>
            <p14:sldId id="281"/>
            <p14:sldId id="270"/>
            <p14:sldId id="273"/>
            <p14:sldId id="274"/>
            <p14:sldId id="280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0D13"/>
    <a:srgbClr val="111F2F"/>
    <a:srgbClr val="B4C7E7"/>
    <a:srgbClr val="DAE3F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0:55:28.574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 0 8192,'0'0'0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0:55:45.7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1 0 8192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09:12:39.351"/>
    </inkml:context>
    <inkml:brush xml:id="br0">
      <inkml:brushProperty name="width" value="0.35" units="cm"/>
      <inkml:brushProperty name="height" value="0.35" units="cm"/>
      <inkml:brushProperty name="color" value="#FF0000"/>
    </inkml:brush>
  </inkml:definitions>
  <inkml:trace contextRef="#ctx0" brushRef="#br0">1 0 4915,'2'1'105,"0"0"-1,0 0 0,0-1 1,0 1-1,1 0 1,-2 1-1,1-1 1,0 0-1,0 1 1,0-1-1,0 1 1,-1-1-1,1 1 1,-1 0-1,1 0 1,-1 0-1,0-1 1,2 5-1,1 0 105,71 93 219,4-4 0,5-3 1,3-4-1,4-3 0,4-5 0,3-4 1,3-4-1,4-5 0,2-4 1,3-6-1,2-4 0,2-4 0,126 33 1,-86-41-44,2-8 1,0-5 0,206 7 0,-240-30-426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09:12:40.703"/>
    </inkml:context>
    <inkml:brush xml:id="br0">
      <inkml:brushProperty name="width" value="0.35" units="cm"/>
      <inkml:brushProperty name="height" value="0.35" units="cm"/>
      <inkml:brushProperty name="color" value="#FF0000"/>
    </inkml:brush>
  </inkml:definitions>
  <inkml:trace contextRef="#ctx0" brushRef="#br0">149 75 4915,'-10'12'139,"0"0"-1,1 0 0,0 1 1,1 0-1,1 0 1,0 1-1,-9 27 1,2 2 484,-10 58 0,1 77 11766,25-221-12388,-1-287 0,-8 291-179,5 32 94,0-1-1,1 1 0,0-1 0,0 0 1,1-7-1,0 12 75,0 1 0,0 0 1,1 0-1,-1-1 0,1 1 0,0 0 1,0 0-1,0 0 0,0 0 1,0 0-1,0 0 0,0 0 0,1 0 1,-1 1-1,1-1 0,-1 0 0,1 1 1,0-1-1,-1 1 0,1 0 0,3-2 1,2-1-19,1 1 1,-1 1 0,0-1 0,1 2-1,-1-1 1,1 1 0,-1 0-1,1 0 1,0 1 0,0 0-1,14 1 1,10 4-174,45 12 1,10 7-830,130 56 0,-96-25-8226,-63-22 7401,-58-33 1863,1 1 0,-1-1 0,1 0 0,-1 1 0,1-1 0,-1 0 1,0 1-1,1-1 0,-1 1 0,1-1 0,-1 1 0,0-1 0,1 1 0,-1-1 0,0 1 1,0-1-1,1 1 0,-1-1 0,0 1 0,0-1 0,0 1 0,0 0 0,0-1 0,0 1 1,0-1-1,0 1 0,0-1 0,0 1 0,0 1 0,-1-1-17,-1 0 0,1 0-1,-1 0 1,1-1 0,-1 1 0,0 0-1,1 0 1,-1-1 0,0 1 0,1-1-1,-1 0 1,0 1 0,0-1 0,1 0-1,-4 0 1,-39 3 42,-16 1-36,1 2 0,-105 25 0,-74 51-56,184-58 54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10:42:49.780"/>
    </inkml:context>
    <inkml:brush xml:id="br0">
      <inkml:brushProperty name="width" value="0.35" units="cm"/>
      <inkml:brushProperty name="height" value="0.35" units="cm"/>
      <inkml:brushProperty name="color" value="#FF0000"/>
    </inkml:brush>
  </inkml:definitions>
  <inkml:trace contextRef="#ctx0" brushRef="#br0">1 0 4915,'2'1'105,"0"0"-1,0 0 0,0-1 1,0 1-1,1 0 1,-2 1-1,1-1 1,0 0-1,0 1 1,0-1-1,0 1 1,-1-1-1,1 1 1,-1 0-1,1 0 1,-1 0-1,0-1 1,2 5-1,1 0 105,71 93 219,4-4 0,5-3 1,3-4-1,4-3 0,4-5 0,3-4 1,3-4-1,4-5 0,2-4 1,3-6-1,2-4 0,2-4 0,126 33 1,-86-41-44,2-8 1,0-5 0,206 7 0,-240-30-426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10:42:49.824"/>
    </inkml:context>
    <inkml:brush xml:id="br0">
      <inkml:brushProperty name="width" value="0.35" units="cm"/>
      <inkml:brushProperty name="height" value="0.35" units="cm"/>
      <inkml:brushProperty name="color" value="#FF0000"/>
    </inkml:brush>
  </inkml:definitions>
  <inkml:trace contextRef="#ctx0" brushRef="#br0">149 75 4915,'-10'12'139,"0"0"-1,1 0 0,0 1 1,1 0-1,1 0 1,0 1-1,-9 27 1,2 2 484,-10 58 0,1 77 11766,25-221-12388,-1-287 0,-8 291-179,5 32 94,0-1-1,1 1 0,0-1 0,0 0 1,1-7-1,0 12 75,0 1 0,0 0 1,1 0-1,-1-1 0,1 1 0,0 0 1,0 0-1,0 0 0,0 0 1,0 0-1,0 0 0,0 0 0,1 0 1,-1 1-1,1-1 0,-1 0 0,1 1 1,0-1-1,-1 1 0,1 0 0,3-2 1,2-1-19,1 1 1,-1 1 0,0-1 0,1 2-1,-1-1 1,1 1 0,-1 0-1,1 0 1,0 1 0,0 0-1,14 1 1,10 4-174,45 12 1,10 7-830,130 56 0,-96-25-8226,-63-22 7401,-58-33 1863,1 1 0,-1-1 0,1 0 0,-1 1 0,1-1 0,-1 0 1,0 1-1,1-1 0,-1 1 0,1-1 0,-1 1 0,0-1 0,1 1 0,-1-1 0,0 1 1,0-1-1,1 1 0,-1-1 0,0 1 0,0-1 0,0 1 0,0 0 0,0-1 0,0 1 1,0-1-1,0 1 0,0-1 0,0 1 0,0 1 0,-1-1-17,-1 0 0,1 0-1,-1 0 1,1-1 0,-1 1 0,0 0-1,1 0 1,-1-1 0,0 1 0,1-1-1,-1 0 1,0 1 0,0-1 0,1 0-1,-4 0 1,-39 3 42,-16 1-36,1 2 0,-105 25 0,-74 51-56,184-58 54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09:55:48.175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1 0 8192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glav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Označba mesta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348E98-35FF-4AB0-B358-98BA5F4F7A9B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4" name="Označba mesta stranske slik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Označba mesta opomb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E78123-F056-44F7-9BC5-31AD90264FF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848317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080677D-9D6A-8B76-8257-9A762AF30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20870C91-C825-C974-ABC6-23C7B694E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5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1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22A899C9-7AE9-1E07-7EAB-A926094C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4CEE-5DB3-4C24-ABD3-4B443F5F89E9}" type="datetime1">
              <a:rPr lang="sl-SI" smtClean="0"/>
              <a:t>11. 01. 2026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F9056E1F-B8A9-5E15-C58F-3F958A8E0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6B7C06FD-BBA9-DA60-1270-50F88AF9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722963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3FFDB71-2094-7C42-57A0-79A937A23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E9C9A86-CD54-0617-AF3C-18E8E1783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E18A0505-2441-2AAF-277E-F3B8E7773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6263-2718-4854-9C7F-3B29A71737D9}" type="datetime1">
              <a:rPr lang="sl-SI" smtClean="0"/>
              <a:t>11. 01. 2026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FA737BB2-23A8-D10A-A955-4147F77BF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6B051C60-75C8-0BA4-5244-FF72E56CA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70276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34C7BDF-0535-5AC9-F903-89A1A3800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07A12824-0E4E-97E2-BC6E-1A66F2A02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2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6572473E-74FF-12FA-9524-B52C7F20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B4E4-C4AE-4D58-88C6-391B1E0F2FEF}" type="datetime1">
              <a:rPr lang="sl-SI" smtClean="0"/>
              <a:t>11. 01. 2026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88535C97-4817-6655-5D2E-E22AC735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F802D642-16B3-6821-3782-F61E6B908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1359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717868D-D6A1-981A-348E-099C236DF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1A4CEB7F-BC79-707F-81C5-037966222A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8C332997-8EB8-8DC5-53E0-EC898E679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6701FD8F-735A-CC52-DEBD-1D3259C88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792D9-77F6-42E9-8205-5C269216A717}" type="datetime1">
              <a:rPr lang="sl-SI" smtClean="0"/>
              <a:t>11. 01. 2026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A9E8B142-2AC5-FFEC-BBA0-A15FEFE2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98948393-1B2B-350C-4C1F-49C057410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82073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8CD4EFA-C89E-585E-14E6-1D27F731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352A582A-1B4D-F462-3382-AFF59E943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1" b="1"/>
            </a:lvl3pPr>
            <a:lvl4pPr marL="1371635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1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8F3A9A82-9056-BD35-F601-7F2F003F8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5157787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BFEA4A84-BEF0-73E6-0E58-32275EFC4E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1" b="1"/>
            </a:lvl3pPr>
            <a:lvl4pPr marL="1371635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1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ED395316-FBE1-89D6-40A0-AC7A929F6E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6"/>
            <a:ext cx="5183188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A2C31B56-F356-49BD-4276-2BF5EF213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6C3A0-1743-4EE1-9C3A-8DD0B911B4B7}" type="datetime1">
              <a:rPr lang="sl-SI" smtClean="0"/>
              <a:t>11. 01. 2026</a:t>
            </a:fld>
            <a:endParaRPr lang="sl-SI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3FBD5C9B-5616-8F49-B7DD-CBD633A0F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48C82ADB-4FC0-4E0A-8921-4CED956EB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80675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670D307-761E-9B14-6673-800CEA31C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D14DF501-E1DB-F6D8-1CCC-6FA999102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EE81-F3D9-46A4-BAF9-55AA47FA2711}" type="datetime1">
              <a:rPr lang="sl-SI" smtClean="0"/>
              <a:t>11. 01. 2026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D9D9ED43-81C8-2D5A-EA15-C6958E1E5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0EC39794-7C2E-A0E1-303E-F35967F4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46405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8A38D816-4614-D688-81C3-EA7355C6C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50149-CE1A-4D20-BB0E-5CC287014C8E}" type="datetime1">
              <a:rPr lang="sl-SI" smtClean="0"/>
              <a:t>11. 01. 2026</a:t>
            </a:fld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7966D6CC-6E09-FA5A-D66A-41B2B5C03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66FBCCC9-188B-8428-F311-F1921E60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64054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9BB6776-8584-D152-93D2-C7AEFC767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35EBE65E-4632-B8E2-9024-C2F7F84D5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7CCA9018-4D31-AE10-067E-43F293AD0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2" indent="0">
              <a:buNone/>
              <a:defRPr sz="1200"/>
            </a:lvl3pPr>
            <a:lvl4pPr marL="1371635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8" indent="0">
              <a:buNone/>
              <a:defRPr sz="1001"/>
            </a:lvl7pPr>
            <a:lvl8pPr marL="3200481" indent="0">
              <a:buNone/>
              <a:defRPr sz="1001"/>
            </a:lvl8pPr>
            <a:lvl9pPr marL="3657692" indent="0">
              <a:buNone/>
              <a:defRPr sz="100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DDBCF322-C247-6EE6-789A-62E7DE92B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21AE7-D1AA-4B83-A687-E1C8AB05A3C4}" type="datetime1">
              <a:rPr lang="sl-SI" smtClean="0"/>
              <a:t>11. 01. 2026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BFE28813-7E21-F5D2-B6B0-AEF8131AD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B4407A10-A23C-FA0C-EAA7-1C896B7CF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232531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5869201-8AA5-56E6-9097-0B9EE6BD5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slike 2">
            <a:extLst>
              <a:ext uri="{FF2B5EF4-FFF2-40B4-BE49-F238E27FC236}">
                <a16:creationId xmlns:a16="http://schemas.microsoft.com/office/drawing/2014/main" id="{069D6D0C-747E-9121-61BF-D224AA0079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2" indent="0">
              <a:buNone/>
              <a:defRPr sz="2400"/>
            </a:lvl3pPr>
            <a:lvl4pPr marL="1371635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1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7A8F843C-2C37-C31C-14E7-50D3146B0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2" indent="0">
              <a:buNone/>
              <a:defRPr sz="1200"/>
            </a:lvl3pPr>
            <a:lvl4pPr marL="1371635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8" indent="0">
              <a:buNone/>
              <a:defRPr sz="1001"/>
            </a:lvl7pPr>
            <a:lvl8pPr marL="3200481" indent="0">
              <a:buNone/>
              <a:defRPr sz="1001"/>
            </a:lvl8pPr>
            <a:lvl9pPr marL="3657692" indent="0">
              <a:buNone/>
              <a:defRPr sz="100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39FC08CF-D14A-CC03-32E2-CC09A7E9C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BB24-C922-4F6E-8C84-7881B454BA42}" type="datetime1">
              <a:rPr lang="sl-SI" smtClean="0"/>
              <a:t>11. 01. 2026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CA7F13D9-4808-E89D-6836-4A71EC802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8C8C1C74-BE18-F891-6BCE-9E2BE15F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554967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3CBDCFB-B47C-5202-E72B-11C5A38BF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D1EB4F86-6228-FA27-C4B0-FA8AA25EB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B6968736-03EA-6114-2152-D592A8D74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B0B21-906B-449C-B9D3-C665CAF27D7C}" type="datetime1">
              <a:rPr lang="sl-SI" smtClean="0"/>
              <a:t>11. 01. 2026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AF51E94F-4C50-84D6-591E-B8E3B400F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C34D6DFA-A8E4-9958-9E5E-D89D1FBD8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13824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>
            <a:extLst>
              <a:ext uri="{FF2B5EF4-FFF2-40B4-BE49-F238E27FC236}">
                <a16:creationId xmlns:a16="http://schemas.microsoft.com/office/drawing/2014/main" id="{AE1063BD-DEB0-2E96-55FC-901244330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13106F3C-3386-D845-43A7-0CBCC65301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EC8A4B99-583C-2F71-2649-8DD3A4962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5104-3F99-4A98-94DD-1B6CFA5FB633}" type="datetime1">
              <a:rPr lang="sl-SI" smtClean="0"/>
              <a:t>11. 01. 2026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E3165CA5-ECE7-8C10-60F2-9E2C2CDBF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AA125D4F-7316-AC19-EFAB-1EBBA5886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808212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678F04D1-DEFA-1B29-004A-B007A5CC0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 dirty="0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90644B6C-0791-F058-99AF-2B51A3FF8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 dirty="0"/>
              <a:t>Kliknite za urejanje slogov besedila matrice</a:t>
            </a:r>
          </a:p>
          <a:p>
            <a:pPr lvl="1"/>
            <a:r>
              <a:rPr lang="sl-SI" dirty="0"/>
              <a:t>Druga raven</a:t>
            </a:r>
          </a:p>
          <a:p>
            <a:pPr lvl="2"/>
            <a:r>
              <a:rPr lang="sl-SI" dirty="0"/>
              <a:t>Tretja raven</a:t>
            </a:r>
          </a:p>
          <a:p>
            <a:pPr lvl="3"/>
            <a:r>
              <a:rPr lang="sl-SI" dirty="0"/>
              <a:t>Četrta raven</a:t>
            </a:r>
          </a:p>
          <a:p>
            <a:pPr lvl="4"/>
            <a:r>
              <a:rPr lang="sl-SI" dirty="0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187FC6EB-5C51-1C32-16DF-33195EADA8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0F5DB3D4-E10C-4A30-87AC-A24FFDCE6B35}" type="datetime1">
              <a:rPr lang="sl-SI" smtClean="0"/>
              <a:pPr/>
              <a:t>11. 01. 2026</a:t>
            </a:fld>
            <a:endParaRPr lang="sl-SI" dirty="0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80C65E4E-5E68-D64C-B2B0-F0BBBA1D8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sl-SI" dirty="0"/>
              <a:t>JSI, F9</a:t>
            </a:r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B353F32B-E756-78D3-09E7-48C0FEBC1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C5B056C3-474E-40CD-87BE-C691853342BB}" type="slidenum">
              <a:rPr lang="sl-SI" smtClean="0"/>
              <a:pPr/>
              <a:t>‹#›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783455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2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7" indent="-228607" algn="l" defTabSz="914422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18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29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3pPr>
      <a:lvl4pPr marL="1600240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4pPr>
      <a:lvl5pPr marL="2057453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5pPr>
      <a:lvl6pPr marL="2514664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1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2.png"/><Relationship Id="rId7" Type="http://schemas.openxmlformats.org/officeDocument/2006/relationships/customXml" Target="../ink/ink4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customXml" Target="../ink/ink3.xml"/><Relationship Id="rId10" Type="http://schemas.openxmlformats.org/officeDocument/2006/relationships/customXml" Target="../ink/ink6.xml"/><Relationship Id="rId4" Type="http://schemas.openxmlformats.org/officeDocument/2006/relationships/image" Target="../media/image13.png"/><Relationship Id="rId9" Type="http://schemas.openxmlformats.org/officeDocument/2006/relationships/customXml" Target="../ink/ink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406.02507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312.02696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otnik 3">
            <a:extLst>
              <a:ext uri="{FF2B5EF4-FFF2-40B4-BE49-F238E27FC236}">
                <a16:creationId xmlns:a16="http://schemas.microsoft.com/office/drawing/2014/main" id="{6B0A91DE-A9FF-D11C-066E-EBD0AE5E3F40}"/>
              </a:ext>
            </a:extLst>
          </p:cNvPr>
          <p:cNvSpPr/>
          <p:nvPr/>
        </p:nvSpPr>
        <p:spPr>
          <a:xfrm>
            <a:off x="0" y="1034042"/>
            <a:ext cx="12192000" cy="2666287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6F6A4841-4452-00CB-BF5A-E92F1D52CF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9458" y="1504060"/>
            <a:ext cx="9144000" cy="1509350"/>
          </a:xfrm>
        </p:spPr>
        <p:txBody>
          <a:bodyPr>
            <a:normAutofit/>
          </a:bodyPr>
          <a:lstStyle/>
          <a:p>
            <a:r>
              <a:rPr lang="sl-SI" sz="4800" b="1" dirty="0" err="1">
                <a:solidFill>
                  <a:schemeClr val="bg1"/>
                </a:solidFill>
              </a:rPr>
              <a:t>Diffusion</a:t>
            </a:r>
            <a:r>
              <a:rPr lang="sl-SI" sz="4800" b="1" dirty="0">
                <a:solidFill>
                  <a:schemeClr val="bg1"/>
                </a:solidFill>
              </a:rPr>
              <a:t> </a:t>
            </a:r>
            <a:r>
              <a:rPr lang="sl-SI" sz="4800" b="1" dirty="0" err="1">
                <a:solidFill>
                  <a:schemeClr val="bg1"/>
                </a:solidFill>
              </a:rPr>
              <a:t>models</a:t>
            </a:r>
            <a:r>
              <a:rPr lang="sl-SI" sz="4800" b="1" dirty="0">
                <a:solidFill>
                  <a:schemeClr val="bg1"/>
                </a:solidFill>
              </a:rPr>
              <a:t> </a:t>
            </a:r>
            <a:r>
              <a:rPr lang="sl-SI" sz="4800" b="1" dirty="0" err="1">
                <a:solidFill>
                  <a:schemeClr val="bg1"/>
                </a:solidFill>
              </a:rPr>
              <a:t>for</a:t>
            </a:r>
            <a:r>
              <a:rPr lang="sl-SI" sz="4800" b="1" dirty="0">
                <a:solidFill>
                  <a:schemeClr val="bg1"/>
                </a:solidFill>
              </a:rPr>
              <a:t> </a:t>
            </a:r>
            <a:r>
              <a:rPr lang="sl-SI" sz="4800" b="1" dirty="0" err="1">
                <a:solidFill>
                  <a:schemeClr val="bg1"/>
                </a:solidFill>
              </a:rPr>
              <a:t>simulating</a:t>
            </a:r>
            <a:r>
              <a:rPr lang="sl-SI" sz="4800" b="1" dirty="0">
                <a:solidFill>
                  <a:schemeClr val="bg1"/>
                </a:solidFill>
              </a:rPr>
              <a:t> </a:t>
            </a:r>
            <a:r>
              <a:rPr lang="sl-SI" sz="4800" b="1" dirty="0" err="1">
                <a:solidFill>
                  <a:schemeClr val="bg1"/>
                </a:solidFill>
              </a:rPr>
              <a:t>distributions</a:t>
            </a:r>
            <a:r>
              <a:rPr lang="sl-SI" sz="4800" b="1" dirty="0">
                <a:solidFill>
                  <a:schemeClr val="bg1"/>
                </a:solidFill>
              </a:rPr>
              <a:t> </a:t>
            </a:r>
            <a:r>
              <a:rPr lang="sl-SI" sz="4800" b="1" dirty="0" err="1">
                <a:solidFill>
                  <a:schemeClr val="bg1"/>
                </a:solidFill>
              </a:rPr>
              <a:t>of</a:t>
            </a:r>
            <a:r>
              <a:rPr lang="sl-SI" sz="4800" b="1" dirty="0">
                <a:solidFill>
                  <a:schemeClr val="bg1"/>
                </a:solidFill>
              </a:rPr>
              <a:t> </a:t>
            </a:r>
            <a:r>
              <a:rPr lang="sl-SI" sz="4800" b="1" dirty="0" err="1">
                <a:solidFill>
                  <a:schemeClr val="bg1"/>
                </a:solidFill>
              </a:rPr>
              <a:t>observables</a:t>
            </a:r>
            <a:endParaRPr lang="sl-SI" sz="4800" b="1" dirty="0">
              <a:solidFill>
                <a:schemeClr val="bg1"/>
              </a:solidFill>
            </a:endParaRP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B67D6275-CF28-54CA-BA60-C93074846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88454"/>
            <a:ext cx="9144000" cy="1655762"/>
          </a:xfrm>
        </p:spPr>
        <p:txBody>
          <a:bodyPr/>
          <a:lstStyle/>
          <a:p>
            <a:r>
              <a:rPr lang="sl-SI" dirty="0" err="1">
                <a:solidFill>
                  <a:schemeClr val="bg1"/>
                </a:solidFill>
              </a:rPr>
              <a:t>Korl</a:t>
            </a:r>
            <a:r>
              <a:rPr lang="sl-SI" dirty="0">
                <a:solidFill>
                  <a:schemeClr val="bg1"/>
                </a:solidFill>
              </a:rPr>
              <a:t> Železnikar, </a:t>
            </a:r>
          </a:p>
          <a:p>
            <a:r>
              <a:rPr lang="sl-SI" dirty="0" err="1">
                <a:solidFill>
                  <a:schemeClr val="bg1"/>
                </a:solidFill>
              </a:rPr>
              <a:t>January</a:t>
            </a:r>
            <a:r>
              <a:rPr lang="sl-SI" dirty="0">
                <a:solidFill>
                  <a:schemeClr val="bg1"/>
                </a:solidFill>
              </a:rPr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2873791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A0C422DC-28CD-04F8-02A5-9118F66927A1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EE83EE23-CD36-E46B-0EAA-EB29C88C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4000" b="1" dirty="0" err="1">
                <a:solidFill>
                  <a:schemeClr val="bg1"/>
                </a:solidFill>
              </a:rPr>
              <a:t>Introduction</a:t>
            </a:r>
            <a:endParaRPr lang="sl-SI" b="1" dirty="0">
              <a:solidFill>
                <a:schemeClr val="bg1"/>
              </a:solidFill>
            </a:endParaRPr>
          </a:p>
        </p:txBody>
      </p:sp>
      <p:sp>
        <p:nvSpPr>
          <p:cNvPr id="11" name="Označba mesta vsebine 10">
            <a:extLst>
              <a:ext uri="{FF2B5EF4-FFF2-40B4-BE49-F238E27FC236}">
                <a16:creationId xmlns:a16="http://schemas.microsoft.com/office/drawing/2014/main" id="{FED84E36-9B2F-6E95-2906-F50A9D885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sz="2400" dirty="0" err="1">
                <a:solidFill>
                  <a:schemeClr val="bg1"/>
                </a:solidFill>
              </a:rPr>
              <a:t>Tested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models</a:t>
            </a:r>
            <a:r>
              <a:rPr lang="sl-SI" sz="2400" dirty="0">
                <a:solidFill>
                  <a:schemeClr val="bg1"/>
                </a:solidFill>
              </a:rPr>
              <a:t>: </a:t>
            </a:r>
            <a:r>
              <a:rPr lang="sl-SI" sz="2400" dirty="0" err="1">
                <a:solidFill>
                  <a:schemeClr val="bg1"/>
                </a:solidFill>
              </a:rPr>
              <a:t>stohastic</a:t>
            </a:r>
            <a:r>
              <a:rPr lang="sl-SI" sz="2400" dirty="0">
                <a:solidFill>
                  <a:schemeClr val="bg1"/>
                </a:solidFill>
              </a:rPr>
              <a:t> DDPM + </a:t>
            </a:r>
            <a:r>
              <a:rPr lang="sl-SI" sz="2400" dirty="0" err="1">
                <a:solidFill>
                  <a:schemeClr val="bg1"/>
                </a:solidFill>
              </a:rPr>
              <a:t>variants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and</a:t>
            </a:r>
            <a:r>
              <a:rPr lang="sl-SI" sz="2400" dirty="0">
                <a:solidFill>
                  <a:schemeClr val="bg1"/>
                </a:solidFill>
              </a:rPr>
              <a:t> (</a:t>
            </a:r>
            <a:r>
              <a:rPr lang="sl-SI" sz="2400" dirty="0" err="1">
                <a:solidFill>
                  <a:schemeClr val="bg1"/>
                </a:solidFill>
              </a:rPr>
              <a:t>all</a:t>
            </a:r>
            <a:r>
              <a:rPr lang="sl-SI" sz="2400" dirty="0">
                <a:solidFill>
                  <a:schemeClr val="bg1"/>
                </a:solidFill>
              </a:rPr>
              <a:t>?) SDE/</a:t>
            </a:r>
            <a:r>
              <a:rPr lang="sl-SI" sz="2400" dirty="0" err="1">
                <a:solidFill>
                  <a:schemeClr val="bg1"/>
                </a:solidFill>
              </a:rPr>
              <a:t>score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models</a:t>
            </a:r>
            <a:r>
              <a:rPr lang="sl-SI" sz="2400" dirty="0">
                <a:solidFill>
                  <a:schemeClr val="bg1"/>
                </a:solidFill>
              </a:rPr>
              <a:t>: NCSN, VP, </a:t>
            </a:r>
            <a:r>
              <a:rPr lang="sl-SI" sz="2400" dirty="0" err="1">
                <a:solidFill>
                  <a:schemeClr val="bg1"/>
                </a:solidFill>
              </a:rPr>
              <a:t>subVP</a:t>
            </a:r>
            <a:r>
              <a:rPr lang="sl-SI" sz="2400" dirty="0">
                <a:solidFill>
                  <a:schemeClr val="bg1"/>
                </a:solidFill>
              </a:rPr>
              <a:t>, VE, DDIM, EDM, EDM2.</a:t>
            </a:r>
          </a:p>
          <a:p>
            <a:r>
              <a:rPr lang="sl-SI" sz="2400" dirty="0">
                <a:solidFill>
                  <a:schemeClr val="bg1"/>
                </a:solidFill>
              </a:rPr>
              <a:t>Most </a:t>
            </a:r>
            <a:r>
              <a:rPr lang="sl-SI" sz="2400" dirty="0" err="1">
                <a:solidFill>
                  <a:schemeClr val="bg1"/>
                </a:solidFill>
              </a:rPr>
              <a:t>models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underperform</a:t>
            </a:r>
            <a:r>
              <a:rPr lang="sl-SI" sz="2400" dirty="0">
                <a:solidFill>
                  <a:schemeClr val="bg1"/>
                </a:solidFill>
              </a:rPr>
              <a:t>, </a:t>
            </a:r>
            <a:r>
              <a:rPr lang="sl-SI" sz="2400" dirty="0" err="1">
                <a:solidFill>
                  <a:schemeClr val="bg1"/>
                </a:solidFill>
              </a:rPr>
              <a:t>two</a:t>
            </a:r>
            <a:r>
              <a:rPr lang="sl-SI" sz="2400" dirty="0">
                <a:solidFill>
                  <a:schemeClr val="bg1"/>
                </a:solidFill>
              </a:rPr>
              <a:t> show „</a:t>
            </a:r>
            <a:r>
              <a:rPr lang="sl-SI" sz="2400" dirty="0" err="1">
                <a:solidFill>
                  <a:schemeClr val="bg1"/>
                </a:solidFill>
              </a:rPr>
              <a:t>promising</a:t>
            </a:r>
            <a:r>
              <a:rPr lang="sl-SI" sz="2400" dirty="0">
                <a:solidFill>
                  <a:schemeClr val="bg1"/>
                </a:solidFill>
              </a:rPr>
              <a:t>“ </a:t>
            </a:r>
            <a:r>
              <a:rPr lang="sl-SI" sz="2400" dirty="0" err="1">
                <a:solidFill>
                  <a:schemeClr val="bg1"/>
                </a:solidFill>
              </a:rPr>
              <a:t>results</a:t>
            </a:r>
            <a:r>
              <a:rPr lang="sl-SI" sz="2400" dirty="0">
                <a:solidFill>
                  <a:schemeClr val="bg1"/>
                </a:solidFill>
              </a:rPr>
              <a:t>.</a:t>
            </a:r>
          </a:p>
          <a:p>
            <a:endParaRPr lang="sl-SI" sz="2400" dirty="0">
              <a:solidFill>
                <a:schemeClr val="bg1"/>
              </a:solidFill>
            </a:endParaRPr>
          </a:p>
          <a:p>
            <a:endParaRPr lang="sl-SI" sz="2400" dirty="0">
              <a:solidFill>
                <a:schemeClr val="bg1"/>
              </a:solidFill>
            </a:endParaRPr>
          </a:p>
          <a:p>
            <a:endParaRPr lang="sl-SI" sz="2400" dirty="0">
              <a:solidFill>
                <a:schemeClr val="bg1"/>
              </a:solidFill>
            </a:endParaRPr>
          </a:p>
          <a:p>
            <a:endParaRPr lang="sl-SI" sz="2400" dirty="0">
              <a:solidFill>
                <a:schemeClr val="bg1"/>
              </a:solidFill>
            </a:endParaRPr>
          </a:p>
          <a:p>
            <a:endParaRPr lang="sl-SI" sz="2400" dirty="0">
              <a:solidFill>
                <a:schemeClr val="bg1"/>
              </a:solidFill>
            </a:endParaRPr>
          </a:p>
          <a:p>
            <a:r>
              <a:rPr lang="sl-SI" sz="2400" dirty="0">
                <a:solidFill>
                  <a:schemeClr val="bg1"/>
                </a:solidFill>
              </a:rPr>
              <a:t>Model </a:t>
            </a:r>
            <a:r>
              <a:rPr lang="sl-SI" sz="2400" dirty="0" err="1">
                <a:solidFill>
                  <a:schemeClr val="bg1"/>
                </a:solidFill>
              </a:rPr>
              <a:t>details</a:t>
            </a:r>
            <a:r>
              <a:rPr lang="sl-SI" sz="2400" dirty="0">
                <a:solidFill>
                  <a:schemeClr val="bg1"/>
                </a:solidFill>
              </a:rPr>
              <a:t> in </a:t>
            </a:r>
            <a:r>
              <a:rPr lang="sl-SI" sz="2400" dirty="0" err="1">
                <a:solidFill>
                  <a:schemeClr val="bg1"/>
                </a:solidFill>
              </a:rPr>
              <a:t>the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supplementary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info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section</a:t>
            </a:r>
            <a:r>
              <a:rPr lang="sl-SI" sz="2400" dirty="0">
                <a:solidFill>
                  <a:schemeClr val="bg1"/>
                </a:solidFill>
              </a:rPr>
              <a:t>.</a:t>
            </a:r>
          </a:p>
          <a:p>
            <a:endParaRPr lang="sl-SI" sz="2400" dirty="0">
              <a:solidFill>
                <a:schemeClr val="bg1"/>
              </a:solidFill>
            </a:endParaRP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8B94B82A-EB7A-F2A4-515E-A48654E4B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B47CC287-B766-E7C2-3DB7-3EA416621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818848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E8616-75F2-573D-289C-3FAB2B42D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avokotnik 8">
            <a:extLst>
              <a:ext uri="{FF2B5EF4-FFF2-40B4-BE49-F238E27FC236}">
                <a16:creationId xmlns:a16="http://schemas.microsoft.com/office/drawing/2014/main" id="{EF0DDEA0-C962-61B8-2239-35C242E5F79B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10" name="Naslov 1">
            <a:extLst>
              <a:ext uri="{FF2B5EF4-FFF2-40B4-BE49-F238E27FC236}">
                <a16:creationId xmlns:a16="http://schemas.microsoft.com/office/drawing/2014/main" id="{8CE95156-9DA4-CF57-2E3B-F54BD96D0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</a:rPr>
              <a:t>DDPM/</a:t>
            </a:r>
            <a:r>
              <a:rPr lang="sl-SI" sz="4000" b="1" dirty="0" err="1">
                <a:solidFill>
                  <a:schemeClr val="bg1"/>
                </a:solidFill>
              </a:rPr>
              <a:t>stohastic</a:t>
            </a:r>
            <a:r>
              <a:rPr lang="sl-SI" sz="4000" b="1" dirty="0">
                <a:solidFill>
                  <a:schemeClr val="bg1"/>
                </a:solidFill>
              </a:rPr>
              <a:t> </a:t>
            </a:r>
            <a:r>
              <a:rPr lang="sl-SI" sz="4000" b="1" dirty="0" err="1">
                <a:solidFill>
                  <a:schemeClr val="bg1"/>
                </a:solidFill>
              </a:rPr>
              <a:t>frameworks</a:t>
            </a:r>
            <a:endParaRPr lang="sl-SI" sz="4000" b="1" dirty="0">
              <a:solidFill>
                <a:schemeClr val="bg1"/>
              </a:solidFill>
            </a:endParaRPr>
          </a:p>
        </p:txBody>
      </p:sp>
      <p:sp>
        <p:nvSpPr>
          <p:cNvPr id="2" name="Označba mesta vsebine 1">
            <a:extLst>
              <a:ext uri="{FF2B5EF4-FFF2-40B4-BE49-F238E27FC236}">
                <a16:creationId xmlns:a16="http://schemas.microsoft.com/office/drawing/2014/main" id="{09D6FB5D-082D-C75B-CBEF-7ED344CD6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Reverse sampling stochastically from Gaussians; the models are preconditioned to learn added noise.</a:t>
            </a:r>
            <a:endParaRPr lang="sl-SI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Learning variance unstable, with no visible improvements over learning only the mean.</a:t>
            </a:r>
            <a:endParaRPr lang="sl-SI" sz="2400" dirty="0">
              <a:solidFill>
                <a:schemeClr val="bg1"/>
              </a:solidFill>
            </a:endParaRPr>
          </a:p>
          <a:p>
            <a:r>
              <a:rPr lang="sl-SI" sz="2400" dirty="0">
                <a:solidFill>
                  <a:schemeClr val="bg1"/>
                </a:solidFill>
              </a:rPr>
              <a:t>C</a:t>
            </a:r>
            <a:r>
              <a:rPr lang="en-US" sz="2400" dirty="0" err="1">
                <a:solidFill>
                  <a:schemeClr val="bg1"/>
                </a:solidFill>
              </a:rPr>
              <a:t>osine</a:t>
            </a:r>
            <a:r>
              <a:rPr lang="en-US" sz="2400" dirty="0">
                <a:solidFill>
                  <a:schemeClr val="bg1"/>
                </a:solidFill>
              </a:rPr>
              <a:t> schedule for the forward process was used.</a:t>
            </a:r>
            <a:br>
              <a:rPr lang="en-US" sz="2400" dirty="0"/>
            </a:br>
            <a:endParaRPr lang="sl-SI" sz="2400" dirty="0">
              <a:solidFill>
                <a:schemeClr val="bg1"/>
              </a:solidFill>
            </a:endParaRP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5340E55A-75E8-D6FC-0069-4D4A49223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38684C57-4A10-C31B-32C5-44F19361D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3</a:t>
            </a:fld>
            <a:endParaRPr lang="sl-SI"/>
          </a:p>
        </p:txBody>
      </p:sp>
      <p:pic>
        <p:nvPicPr>
          <p:cNvPr id="13" name="Slika 12" descr="Slika, ki vsebuje besede besedilo, posnetek zaslona, pisava, vrstica&#10;&#10;Vsebina, ustvarjena z UI, morda ni pravilna.">
            <a:extLst>
              <a:ext uri="{FF2B5EF4-FFF2-40B4-BE49-F238E27FC236}">
                <a16:creationId xmlns:a16="http://schemas.microsoft.com/office/drawing/2014/main" id="{EDC488CB-5B4F-A462-F00B-E2459A7FC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968" y="4027778"/>
            <a:ext cx="9218063" cy="228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666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Naslov 1">
            <a:extLst>
              <a:ext uri="{FF2B5EF4-FFF2-40B4-BE49-F238E27FC236}">
                <a16:creationId xmlns:a16="http://schemas.microsoft.com/office/drawing/2014/main" id="{89169AFE-4094-181E-C884-BA0A7E9D8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12" y="-202963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DDPM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sampling</a:t>
            </a:r>
            <a:endParaRPr lang="sl-SI" sz="4000" b="1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768384C3-A341-506E-79F5-5280E5392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19" y="858425"/>
            <a:ext cx="11564169" cy="5744962"/>
          </a:xfrm>
          <a:prstGeom prst="rect">
            <a:avLst/>
          </a:prstGeom>
        </p:spPr>
      </p:pic>
      <p:grpSp>
        <p:nvGrpSpPr>
          <p:cNvPr id="15" name="Skupina 14">
            <a:extLst>
              <a:ext uri="{FF2B5EF4-FFF2-40B4-BE49-F238E27FC236}">
                <a16:creationId xmlns:a16="http://schemas.microsoft.com/office/drawing/2014/main" id="{CA767D00-6123-AFBF-85DA-626C663FA786}"/>
              </a:ext>
            </a:extLst>
          </p:cNvPr>
          <p:cNvGrpSpPr/>
          <p:nvPr/>
        </p:nvGrpSpPr>
        <p:grpSpPr>
          <a:xfrm>
            <a:off x="2090165" y="136525"/>
            <a:ext cx="8951000" cy="5130862"/>
            <a:chOff x="1905842" y="-154505"/>
            <a:chExt cx="9676070" cy="5676523"/>
          </a:xfrm>
        </p:grpSpPr>
        <p:sp>
          <p:nvSpPr>
            <p:cNvPr id="45" name="PoljeZBesedilom 44">
              <a:extLst>
                <a:ext uri="{FF2B5EF4-FFF2-40B4-BE49-F238E27FC236}">
                  <a16:creationId xmlns:a16="http://schemas.microsoft.com/office/drawing/2014/main" id="{7754DAAF-3736-9797-0DCA-4427D9FC6259}"/>
                </a:ext>
              </a:extLst>
            </p:cNvPr>
            <p:cNvSpPr txBox="1"/>
            <p:nvPr/>
          </p:nvSpPr>
          <p:spPr>
            <a:xfrm>
              <a:off x="4880852" y="-154505"/>
              <a:ext cx="6701060" cy="715351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7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After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inverting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the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(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rank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-Gauss)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transformed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sampled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data,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all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the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outliers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are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mapped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to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tails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of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distributions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</a:p>
          </p:txBody>
        </p:sp>
        <p:cxnSp>
          <p:nvCxnSpPr>
            <p:cNvPr id="4" name="Raven puščični povezovalnik 3">
              <a:extLst>
                <a:ext uri="{FF2B5EF4-FFF2-40B4-BE49-F238E27FC236}">
                  <a16:creationId xmlns:a16="http://schemas.microsoft.com/office/drawing/2014/main" id="{F7C88953-8D14-D39B-CEB8-7623012470E7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 flipH="1">
              <a:off x="1905842" y="560846"/>
              <a:ext cx="6325540" cy="490684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Raven puščični povezovalnik 7">
              <a:extLst>
                <a:ext uri="{FF2B5EF4-FFF2-40B4-BE49-F238E27FC236}">
                  <a16:creationId xmlns:a16="http://schemas.microsoft.com/office/drawing/2014/main" id="{EEEB7A49-A002-46DA-FA47-50C0AB3E6BE3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 flipH="1">
              <a:off x="6094521" y="560846"/>
              <a:ext cx="2136861" cy="33274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Raven puščični povezovalnik 10">
              <a:extLst>
                <a:ext uri="{FF2B5EF4-FFF2-40B4-BE49-F238E27FC236}">
                  <a16:creationId xmlns:a16="http://schemas.microsoft.com/office/drawing/2014/main" id="{36D81D64-4B57-CC9E-F9D9-56EAA8A1DEEF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 flipH="1">
              <a:off x="2612012" y="560846"/>
              <a:ext cx="5619370" cy="496117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Označba mesta noge 1">
            <a:extLst>
              <a:ext uri="{FF2B5EF4-FFF2-40B4-BE49-F238E27FC236}">
                <a16:creationId xmlns:a16="http://schemas.microsoft.com/office/drawing/2014/main" id="{6C75AA2E-5731-204D-A1D8-7EE44C0FD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2" y="6554286"/>
            <a:ext cx="4114800" cy="365125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3" name="Označba mesta številke diapozitiva 2">
            <a:extLst>
              <a:ext uri="{FF2B5EF4-FFF2-40B4-BE49-F238E27FC236}">
                <a16:creationId xmlns:a16="http://schemas.microsoft.com/office/drawing/2014/main" id="{F0A0F798-1833-9836-998B-0AE6F8DFB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4140" y="6554285"/>
            <a:ext cx="2743200" cy="365125"/>
          </a:xfrm>
        </p:spPr>
        <p:txBody>
          <a:bodyPr/>
          <a:lstStyle/>
          <a:p>
            <a:fld id="{C5B056C3-474E-40CD-87BE-C691853342BB}" type="slidenum">
              <a:rPr lang="sl-SI" smtClean="0"/>
              <a:t>4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98815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5ABD2FE9-51C7-31A4-FA1D-7A4EBBA7A77B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1EEF078-3F12-0CA6-6C2C-E0BDDB5FF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</a:rPr>
              <a:t>C2ST tests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06E7C5D-58D6-65EA-AEA8-1AC4BD028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0813"/>
            <a:ext cx="5776245" cy="4351338"/>
          </a:xfrm>
        </p:spPr>
        <p:txBody>
          <a:bodyPr>
            <a:normAutofit/>
          </a:bodyPr>
          <a:lstStyle/>
          <a:p>
            <a:r>
              <a:rPr lang="sl-SI" sz="2400" dirty="0" err="1">
                <a:solidFill>
                  <a:schemeClr val="bg1"/>
                </a:solidFill>
              </a:rPr>
              <a:t>Tested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for</a:t>
            </a:r>
            <a:r>
              <a:rPr lang="sl-SI" sz="2400" dirty="0">
                <a:solidFill>
                  <a:schemeClr val="bg1"/>
                </a:solidFill>
              </a:rPr>
              <a:t> 10</a:t>
            </a:r>
            <a:r>
              <a:rPr lang="sl-SI" sz="2400" baseline="30000" dirty="0">
                <a:solidFill>
                  <a:schemeClr val="bg1"/>
                </a:solidFill>
              </a:rPr>
              <a:t>6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generated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samples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for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all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models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</a:p>
          <a:p>
            <a:r>
              <a:rPr lang="sl-SI" sz="2400" dirty="0">
                <a:solidFill>
                  <a:schemeClr val="bg1"/>
                </a:solidFill>
              </a:rPr>
              <a:t>Data </a:t>
            </a:r>
            <a:r>
              <a:rPr lang="sl-SI" sz="2400" dirty="0" err="1">
                <a:solidFill>
                  <a:schemeClr val="bg1"/>
                </a:solidFill>
              </a:rPr>
              <a:t>quality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probably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lowered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by</a:t>
            </a:r>
            <a:r>
              <a:rPr lang="sl-SI" sz="2400" dirty="0">
                <a:solidFill>
                  <a:schemeClr val="bg1"/>
                </a:solidFill>
              </a:rPr>
              <a:t> large variance </a:t>
            </a:r>
            <a:r>
              <a:rPr lang="sl-SI" sz="2400" dirty="0" err="1">
                <a:solidFill>
                  <a:schemeClr val="bg1"/>
                </a:solidFill>
              </a:rPr>
              <a:t>for</a:t>
            </a:r>
            <a:r>
              <a:rPr lang="sl-SI" sz="2400" dirty="0">
                <a:solidFill>
                  <a:schemeClr val="bg1"/>
                </a:solidFill>
              </a:rPr>
              <a:t> DDPM</a:t>
            </a: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B7793A91-37A1-9737-6CEA-AF70226A6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2753370D-2544-FD42-033C-DB43B9ED5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5</a:t>
            </a:fld>
            <a:endParaRPr lang="sl-SI"/>
          </a:p>
        </p:txBody>
      </p:sp>
      <p:grpSp>
        <p:nvGrpSpPr>
          <p:cNvPr id="8" name="Skupina 7">
            <a:extLst>
              <a:ext uri="{FF2B5EF4-FFF2-40B4-BE49-F238E27FC236}">
                <a16:creationId xmlns:a16="http://schemas.microsoft.com/office/drawing/2014/main" id="{7634CFA3-FE0B-6B83-C040-6793FDC7DE14}"/>
              </a:ext>
            </a:extLst>
          </p:cNvPr>
          <p:cNvGrpSpPr/>
          <p:nvPr/>
        </p:nvGrpSpPr>
        <p:grpSpPr>
          <a:xfrm>
            <a:off x="6921217" y="1079940"/>
            <a:ext cx="4432579" cy="5179311"/>
            <a:chOff x="6727466" y="1119499"/>
            <a:chExt cx="4432579" cy="5179311"/>
          </a:xfrm>
        </p:grpSpPr>
        <p:pic>
          <p:nvPicPr>
            <p:cNvPr id="9" name="Slika 8">
              <a:extLst>
                <a:ext uri="{FF2B5EF4-FFF2-40B4-BE49-F238E27FC236}">
                  <a16:creationId xmlns:a16="http://schemas.microsoft.com/office/drawing/2014/main" id="{D38189A8-33DD-54DC-AC89-7C027ABE4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7466" y="1119499"/>
              <a:ext cx="4432579" cy="4871534"/>
            </a:xfrm>
            <a:prstGeom prst="rect">
              <a:avLst/>
            </a:prstGeom>
          </p:spPr>
        </p:pic>
        <p:sp>
          <p:nvSpPr>
            <p:cNvPr id="7" name="PoljeZBesedilom 6">
              <a:extLst>
                <a:ext uri="{FF2B5EF4-FFF2-40B4-BE49-F238E27FC236}">
                  <a16:creationId xmlns:a16="http://schemas.microsoft.com/office/drawing/2014/main" id="{0C453D19-D877-BD30-9908-A100341F9850}"/>
                </a:ext>
              </a:extLst>
            </p:cNvPr>
            <p:cNvSpPr txBox="1"/>
            <p:nvPr/>
          </p:nvSpPr>
          <p:spPr>
            <a:xfrm>
              <a:off x="6727466" y="5991033"/>
              <a:ext cx="3288206" cy="307777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31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400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AUC </a:t>
              </a:r>
              <a:r>
                <a:rPr lang="sl-SI" sz="1400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classifier</a:t>
              </a:r>
              <a:r>
                <a:rPr lang="sl-SI" sz="1400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400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scores</a:t>
              </a:r>
              <a:r>
                <a:rPr lang="sl-SI" sz="1400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400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for</a:t>
              </a:r>
              <a:r>
                <a:rPr lang="sl-SI" sz="1400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DDPM </a:t>
              </a:r>
              <a:r>
                <a:rPr lang="sl-SI" sz="1400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models</a:t>
              </a:r>
              <a:endParaRPr lang="sl-SI" sz="1600" dirty="0">
                <a:solidFill>
                  <a:schemeClr val="bg1"/>
                </a:solidFill>
                <a:latin typeface="Calibri Light" panose="020F03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3712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avokotnik 8">
            <a:extLst>
              <a:ext uri="{FF2B5EF4-FFF2-40B4-BE49-F238E27FC236}">
                <a16:creationId xmlns:a16="http://schemas.microsoft.com/office/drawing/2014/main" id="{FC9BCF35-7DF9-65B2-8B0E-E27D139EB0ED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grpSp>
        <p:nvGrpSpPr>
          <p:cNvPr id="11" name="Skupina 10">
            <a:extLst>
              <a:ext uri="{FF2B5EF4-FFF2-40B4-BE49-F238E27FC236}">
                <a16:creationId xmlns:a16="http://schemas.microsoft.com/office/drawing/2014/main" id="{FE54C6B6-5F24-6AF8-1C97-9A1EBEDAD862}"/>
              </a:ext>
            </a:extLst>
          </p:cNvPr>
          <p:cNvGrpSpPr/>
          <p:nvPr/>
        </p:nvGrpSpPr>
        <p:grpSpPr>
          <a:xfrm>
            <a:off x="2205043" y="3188256"/>
            <a:ext cx="9396403" cy="369460"/>
            <a:chOff x="2247901" y="2638703"/>
            <a:chExt cx="9396403" cy="369460"/>
          </a:xfrm>
        </p:grpSpPr>
        <p:sp>
          <p:nvSpPr>
            <p:cNvPr id="6" name="PoljeZBesedilom 5">
              <a:extLst>
                <a:ext uri="{FF2B5EF4-FFF2-40B4-BE49-F238E27FC236}">
                  <a16:creationId xmlns:a16="http://schemas.microsoft.com/office/drawing/2014/main" id="{BF4C2CEA-0101-A2DF-CA8F-B5731209935D}"/>
                </a:ext>
              </a:extLst>
            </p:cNvPr>
            <p:cNvSpPr txBox="1"/>
            <p:nvPr/>
          </p:nvSpPr>
          <p:spPr>
            <a:xfrm>
              <a:off x="2247901" y="2638703"/>
              <a:ext cx="2257426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VP</a:t>
              </a:r>
            </a:p>
          </p:txBody>
        </p:sp>
        <p:sp>
          <p:nvSpPr>
            <p:cNvPr id="7" name="PoljeZBesedilom 6">
              <a:extLst>
                <a:ext uri="{FF2B5EF4-FFF2-40B4-BE49-F238E27FC236}">
                  <a16:creationId xmlns:a16="http://schemas.microsoft.com/office/drawing/2014/main" id="{C90E38DB-CB73-0FF6-D0CF-CB02F89FBB3C}"/>
                </a:ext>
              </a:extLst>
            </p:cNvPr>
            <p:cNvSpPr txBox="1"/>
            <p:nvPr/>
          </p:nvSpPr>
          <p:spPr>
            <a:xfrm>
              <a:off x="5934075" y="2638703"/>
              <a:ext cx="2257426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VE</a:t>
              </a:r>
            </a:p>
          </p:txBody>
        </p:sp>
        <p:sp>
          <p:nvSpPr>
            <p:cNvPr id="8" name="PoljeZBesedilom 7">
              <a:extLst>
                <a:ext uri="{FF2B5EF4-FFF2-40B4-BE49-F238E27FC236}">
                  <a16:creationId xmlns:a16="http://schemas.microsoft.com/office/drawing/2014/main" id="{ACC40756-D161-064F-EE14-B0E888FDF527}"/>
                </a:ext>
              </a:extLst>
            </p:cNvPr>
            <p:cNvSpPr txBox="1"/>
            <p:nvPr/>
          </p:nvSpPr>
          <p:spPr>
            <a:xfrm>
              <a:off x="9386878" y="2638703"/>
              <a:ext cx="2257426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EDM</a:t>
              </a:r>
            </a:p>
          </p:txBody>
        </p:sp>
      </p:grpSp>
      <p:sp>
        <p:nvSpPr>
          <p:cNvPr id="10" name="Naslov 1">
            <a:extLst>
              <a:ext uri="{FF2B5EF4-FFF2-40B4-BE49-F238E27FC236}">
                <a16:creationId xmlns:a16="http://schemas.microsoft.com/office/drawing/2014/main" id="{691A22FD-187C-65C1-0DF6-36AFC320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</a:rPr>
              <a:t>Score</a:t>
            </a:r>
            <a:r>
              <a:rPr lang="sl-SI" sz="4000" b="1" dirty="0">
                <a:solidFill>
                  <a:schemeClr val="bg1"/>
                </a:solidFill>
              </a:rPr>
              <a:t> </a:t>
            </a:r>
            <a:r>
              <a:rPr lang="sl-SI" sz="4000" b="1" dirty="0" err="1">
                <a:solidFill>
                  <a:schemeClr val="bg1"/>
                </a:solidFill>
              </a:rPr>
              <a:t>based</a:t>
            </a:r>
            <a:r>
              <a:rPr lang="sl-SI" sz="4000" b="1" dirty="0">
                <a:solidFill>
                  <a:schemeClr val="bg1"/>
                </a:solidFill>
              </a:rPr>
              <a:t> </a:t>
            </a:r>
            <a:r>
              <a:rPr lang="sl-SI" sz="4000" b="1" dirty="0" err="1">
                <a:solidFill>
                  <a:schemeClr val="bg1"/>
                </a:solidFill>
              </a:rPr>
              <a:t>frameworks</a:t>
            </a:r>
            <a:endParaRPr lang="sl-SI" sz="4000" b="1" dirty="0">
              <a:solidFill>
                <a:schemeClr val="bg1"/>
              </a:solidFill>
            </a:endParaRPr>
          </a:p>
        </p:txBody>
      </p:sp>
      <p:sp>
        <p:nvSpPr>
          <p:cNvPr id="2" name="Označba mesta vsebine 1">
            <a:extLst>
              <a:ext uri="{FF2B5EF4-FFF2-40B4-BE49-F238E27FC236}">
                <a16:creationId xmlns:a16="http://schemas.microsoft.com/office/drawing/2014/main" id="{97358BAD-5247-9C32-6048-5FD83A978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sz="2400" dirty="0">
                <a:solidFill>
                  <a:schemeClr val="bg1"/>
                </a:solidFill>
              </a:rPr>
              <a:t>Variance </a:t>
            </a:r>
            <a:r>
              <a:rPr lang="sl-SI" sz="2400" dirty="0" err="1">
                <a:solidFill>
                  <a:schemeClr val="bg1"/>
                </a:solidFill>
              </a:rPr>
              <a:t>preserving</a:t>
            </a:r>
            <a:r>
              <a:rPr lang="sl-SI" sz="2400" dirty="0">
                <a:solidFill>
                  <a:schemeClr val="bg1"/>
                </a:solidFill>
              </a:rPr>
              <a:t> (VP) – </a:t>
            </a:r>
            <a:r>
              <a:rPr lang="sl-SI" sz="2400" dirty="0" err="1">
                <a:solidFill>
                  <a:schemeClr val="bg1"/>
                </a:solidFill>
              </a:rPr>
              <a:t>continuous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version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of</a:t>
            </a:r>
            <a:r>
              <a:rPr lang="sl-SI" sz="2400" dirty="0">
                <a:solidFill>
                  <a:schemeClr val="bg1"/>
                </a:solidFill>
              </a:rPr>
              <a:t> DDPM, </a:t>
            </a:r>
            <a:r>
              <a:rPr lang="sl-SI" sz="2400" dirty="0" err="1">
                <a:solidFill>
                  <a:schemeClr val="bg1"/>
                </a:solidFill>
              </a:rPr>
              <a:t>stable</a:t>
            </a:r>
            <a:endParaRPr lang="sl-SI" sz="2400" dirty="0">
              <a:solidFill>
                <a:schemeClr val="bg1"/>
              </a:solidFill>
            </a:endParaRPr>
          </a:p>
          <a:p>
            <a:r>
              <a:rPr lang="sl-SI" sz="2400" dirty="0">
                <a:solidFill>
                  <a:schemeClr val="bg1"/>
                </a:solidFill>
              </a:rPr>
              <a:t>Variance </a:t>
            </a:r>
            <a:r>
              <a:rPr lang="sl-SI" sz="2400" dirty="0" err="1">
                <a:solidFill>
                  <a:schemeClr val="bg1"/>
                </a:solidFill>
              </a:rPr>
              <a:t>exploding</a:t>
            </a:r>
            <a:r>
              <a:rPr lang="sl-SI" sz="2400" dirty="0">
                <a:solidFill>
                  <a:schemeClr val="bg1"/>
                </a:solidFill>
              </a:rPr>
              <a:t> (VE) – </a:t>
            </a:r>
            <a:r>
              <a:rPr lang="sl-SI" sz="2400" dirty="0" err="1">
                <a:solidFill>
                  <a:schemeClr val="bg1"/>
                </a:solidFill>
              </a:rPr>
              <a:t>nonlinear</a:t>
            </a:r>
            <a:r>
              <a:rPr lang="sl-SI" sz="2400" dirty="0">
                <a:solidFill>
                  <a:schemeClr val="bg1"/>
                </a:solidFill>
              </a:rPr>
              <a:t> in </a:t>
            </a:r>
            <a:r>
              <a:rPr lang="sl-SI" sz="2400" dirty="0" err="1">
                <a:solidFill>
                  <a:schemeClr val="bg1"/>
                </a:solidFill>
              </a:rPr>
              <a:t>the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low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noise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region</a:t>
            </a:r>
            <a:endParaRPr lang="sl-SI" sz="2400" dirty="0">
              <a:solidFill>
                <a:schemeClr val="bg1"/>
              </a:solidFill>
            </a:endParaRPr>
          </a:p>
          <a:p>
            <a:r>
              <a:rPr lang="sl-SI" sz="2400" dirty="0">
                <a:solidFill>
                  <a:schemeClr val="bg1"/>
                </a:solidFill>
              </a:rPr>
              <a:t>EDM – </a:t>
            </a:r>
            <a:r>
              <a:rPr lang="sl-SI" sz="2400" dirty="0" err="1">
                <a:solidFill>
                  <a:schemeClr val="bg1"/>
                </a:solidFill>
              </a:rPr>
              <a:t>straightest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trajectories</a:t>
            </a:r>
            <a:r>
              <a:rPr lang="sl-SI" sz="2400" dirty="0">
                <a:solidFill>
                  <a:schemeClr val="bg1"/>
                </a:solidFill>
              </a:rPr>
              <a:t> = </a:t>
            </a:r>
            <a:r>
              <a:rPr lang="sl-SI" sz="2400" dirty="0" err="1">
                <a:solidFill>
                  <a:schemeClr val="bg1"/>
                </a:solidFill>
              </a:rPr>
              <a:t>better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sampling</a:t>
            </a:r>
            <a:r>
              <a:rPr lang="sl-SI" sz="2400" dirty="0">
                <a:solidFill>
                  <a:schemeClr val="bg1"/>
                </a:solidFill>
              </a:rPr>
              <a:t>? (in </a:t>
            </a:r>
            <a:r>
              <a:rPr lang="sl-SI" sz="2400" dirty="0" err="1">
                <a:solidFill>
                  <a:schemeClr val="bg1"/>
                </a:solidFill>
              </a:rPr>
              <a:t>theory</a:t>
            </a:r>
            <a:r>
              <a:rPr lang="sl-SI" sz="2400" dirty="0">
                <a:solidFill>
                  <a:schemeClr val="bg1"/>
                </a:solidFill>
              </a:rPr>
              <a:t>)</a:t>
            </a:r>
            <a:endParaRPr lang="sl-SI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sl-SI" sz="2400" dirty="0">
              <a:solidFill>
                <a:schemeClr val="bg1"/>
              </a:solidFill>
            </a:endParaRP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5D6D9550-E3C2-5CCF-C190-019DC683F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13783A80-A182-E185-5D0E-1B6338A9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6</a:t>
            </a:fld>
            <a:endParaRPr lang="sl-SI"/>
          </a:p>
        </p:txBody>
      </p:sp>
      <p:sp>
        <p:nvSpPr>
          <p:cNvPr id="13" name="PoljeZBesedilom 12">
            <a:extLst>
              <a:ext uri="{FF2B5EF4-FFF2-40B4-BE49-F238E27FC236}">
                <a16:creationId xmlns:a16="http://schemas.microsoft.com/office/drawing/2014/main" id="{D87CCD61-A1BD-BAF9-0CC8-2CF3D1FC4A4B}"/>
              </a:ext>
            </a:extLst>
          </p:cNvPr>
          <p:cNvSpPr txBox="1"/>
          <p:nvPr/>
        </p:nvSpPr>
        <p:spPr>
          <a:xfrm>
            <a:off x="794689" y="6042026"/>
            <a:ext cx="6435054" cy="307777"/>
          </a:xfrm>
          <a:prstGeom prst="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Example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trajectories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for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the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3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variants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,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starting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from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two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delta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functions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at </a:t>
            </a:r>
            <a:r>
              <a:rPr lang="sl-SI" sz="1400" i="1" dirty="0">
                <a:solidFill>
                  <a:schemeClr val="bg1"/>
                </a:solidFill>
                <a:latin typeface="Calibri Light" panose="020F0302020204030204" pitchFamily="34" charset="0"/>
              </a:rPr>
              <a:t>t 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= 0.</a:t>
            </a:r>
            <a:endParaRPr lang="sl-SI" sz="160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15" name="Slika 14" descr="Slika, ki vsebuje besede posnetek zaslona, vrstica, grafični prikaz, diagram&#10;&#10;Vsebina, ustvarjena z UI, morda ni pravilna.">
            <a:extLst>
              <a:ext uri="{FF2B5EF4-FFF2-40B4-BE49-F238E27FC236}">
                <a16:creationId xmlns:a16="http://schemas.microsoft.com/office/drawing/2014/main" id="{087DD1DB-FAFE-4092-76BA-60F503B95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89" y="3567676"/>
            <a:ext cx="10602622" cy="247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97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1A01971-5682-46C8-A033-FCA6EF812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8" y="-234946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VP, VE, VP </a:t>
            </a:r>
            <a:r>
              <a:rPr lang="sl-SI" sz="4000" dirty="0">
                <a:solidFill>
                  <a:schemeClr val="bg1"/>
                </a:solidFill>
                <a:latin typeface="Calibri Light" panose="020F0302020204030204" pitchFamily="34" charset="0"/>
              </a:rPr>
              <a:t>(</a:t>
            </a:r>
            <a:r>
              <a:rPr lang="sl-SI" sz="40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conv</a:t>
            </a:r>
            <a:r>
              <a:rPr lang="sl-SI" sz="4000" dirty="0">
                <a:solidFill>
                  <a:schemeClr val="bg1"/>
                </a:solidFill>
                <a:latin typeface="Calibri Light" panose="020F0302020204030204" pitchFamily="34" charset="0"/>
              </a:rPr>
              <a:t>. net)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samples</a:t>
            </a:r>
            <a:endParaRPr lang="sl-SI" sz="4000" b="1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A53AEF3B-1313-9B96-5734-B4E2B8290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7193"/>
            <a:ext cx="4114800" cy="365125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003C717D-E1DF-CF7C-EF22-3145001E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19417" y="6537193"/>
            <a:ext cx="2743200" cy="365125"/>
          </a:xfrm>
        </p:spPr>
        <p:txBody>
          <a:bodyPr/>
          <a:lstStyle/>
          <a:p>
            <a:r>
              <a:rPr lang="sl-SI" dirty="0"/>
              <a:t>7</a:t>
            </a: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9E133D96-ED00-78F1-3CAB-F312AF3DB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00" y="731339"/>
            <a:ext cx="11855528" cy="588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671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slov 1">
            <a:extLst>
              <a:ext uri="{FF2B5EF4-FFF2-40B4-BE49-F238E27FC236}">
                <a16:creationId xmlns:a16="http://schemas.microsoft.com/office/drawing/2014/main" id="{EE5FAA1A-1DE1-7947-5AB7-E2D5D182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72" y="-248620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EDM, EDM2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samples</a:t>
            </a:r>
            <a:endParaRPr lang="sl-SI" sz="4000" b="1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Rokopis 8">
                <a:extLst>
                  <a:ext uri="{FF2B5EF4-FFF2-40B4-BE49-F238E27FC236}">
                    <a16:creationId xmlns:a16="http://schemas.microsoft.com/office/drawing/2014/main" id="{A1D9BB88-E9F1-D367-4338-398BCE5FB8DD}"/>
                  </a:ext>
                </a:extLst>
              </p14:cNvPr>
              <p14:cNvContentPartPr/>
              <p14:nvPr/>
            </p14:nvContentPartPr>
            <p14:xfrm>
              <a:off x="-800505" y="1419255"/>
              <a:ext cx="360" cy="360"/>
            </p14:xfrm>
          </p:contentPart>
        </mc:Choice>
        <mc:Fallback xmlns="">
          <p:pic>
            <p:nvPicPr>
              <p:cNvPr id="9" name="Rokopis 8">
                <a:extLst>
                  <a:ext uri="{FF2B5EF4-FFF2-40B4-BE49-F238E27FC236}">
                    <a16:creationId xmlns:a16="http://schemas.microsoft.com/office/drawing/2014/main" id="{A1D9BB88-E9F1-D367-4338-398BCE5FB8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36505" y="1383255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Rokopis 16">
                <a:extLst>
                  <a:ext uri="{FF2B5EF4-FFF2-40B4-BE49-F238E27FC236}">
                    <a16:creationId xmlns:a16="http://schemas.microsoft.com/office/drawing/2014/main" id="{8A25B466-9188-B3A3-815E-E8F680A08DF8}"/>
                  </a:ext>
                </a:extLst>
              </p14:cNvPr>
              <p14:cNvContentPartPr/>
              <p14:nvPr/>
            </p14:nvContentPartPr>
            <p14:xfrm>
              <a:off x="-914625" y="371295"/>
              <a:ext cx="360" cy="360"/>
            </p14:xfrm>
          </p:contentPart>
        </mc:Choice>
        <mc:Fallback xmlns="">
          <p:pic>
            <p:nvPicPr>
              <p:cNvPr id="17" name="Rokopis 16">
                <a:extLst>
                  <a:ext uri="{FF2B5EF4-FFF2-40B4-BE49-F238E27FC236}">
                    <a16:creationId xmlns:a16="http://schemas.microsoft.com/office/drawing/2014/main" id="{8A25B466-9188-B3A3-815E-E8F680A08D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932625" y="353295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Slika 2">
            <a:extLst>
              <a:ext uri="{FF2B5EF4-FFF2-40B4-BE49-F238E27FC236}">
                <a16:creationId xmlns:a16="http://schemas.microsoft.com/office/drawing/2014/main" id="{9DDDAFF6-1392-1105-5583-5B0EFDB318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44" y="740130"/>
            <a:ext cx="11839284" cy="5881634"/>
          </a:xfrm>
          <a:prstGeom prst="rect">
            <a:avLst/>
          </a:prstGeom>
        </p:spPr>
      </p:pic>
      <p:sp>
        <p:nvSpPr>
          <p:cNvPr id="2" name="Označba mesta noge 1">
            <a:extLst>
              <a:ext uri="{FF2B5EF4-FFF2-40B4-BE49-F238E27FC236}">
                <a16:creationId xmlns:a16="http://schemas.microsoft.com/office/drawing/2014/main" id="{A8E09B6D-2215-5663-0442-A6DF3B014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4" y="6537195"/>
            <a:ext cx="4114800" cy="365125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73A8E71C-FA71-7A97-CFE9-2B9A71740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19417" y="6537193"/>
            <a:ext cx="2743200" cy="365125"/>
          </a:xfrm>
        </p:spPr>
        <p:txBody>
          <a:bodyPr/>
          <a:lstStyle/>
          <a:p>
            <a:fld id="{C5B056C3-474E-40CD-87BE-C691853342BB}" type="slidenum">
              <a:rPr lang="sl-SI" smtClean="0"/>
              <a:t>8</a:t>
            </a:fld>
            <a:endParaRPr lang="sl-SI" dirty="0"/>
          </a:p>
        </p:txBody>
      </p:sp>
      <p:grpSp>
        <p:nvGrpSpPr>
          <p:cNvPr id="19" name="Skupina 18">
            <a:extLst>
              <a:ext uri="{FF2B5EF4-FFF2-40B4-BE49-F238E27FC236}">
                <a16:creationId xmlns:a16="http://schemas.microsoft.com/office/drawing/2014/main" id="{D7D8332E-EE7E-ECB3-41B0-3A4E3DBC5AED}"/>
              </a:ext>
            </a:extLst>
          </p:cNvPr>
          <p:cNvGrpSpPr/>
          <p:nvPr/>
        </p:nvGrpSpPr>
        <p:grpSpPr>
          <a:xfrm>
            <a:off x="1473922" y="48131"/>
            <a:ext cx="10325204" cy="5787964"/>
            <a:chOff x="1473920" y="48129"/>
            <a:chExt cx="10325204" cy="5787965"/>
          </a:xfrm>
        </p:grpSpPr>
        <p:sp>
          <p:nvSpPr>
            <p:cNvPr id="27" name="PoljeZBesedilom 26">
              <a:extLst>
                <a:ext uri="{FF2B5EF4-FFF2-40B4-BE49-F238E27FC236}">
                  <a16:creationId xmlns:a16="http://schemas.microsoft.com/office/drawing/2014/main" id="{B3BC97FE-29C2-DDB8-4E4B-8F74668D1F05}"/>
                </a:ext>
              </a:extLst>
            </p:cNvPr>
            <p:cNvSpPr txBox="1"/>
            <p:nvPr/>
          </p:nvSpPr>
          <p:spPr>
            <a:xfrm>
              <a:off x="6225382" y="48129"/>
              <a:ext cx="4794190" cy="646587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31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Variance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undershooting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problems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/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samples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converge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to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the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middle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in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high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level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features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.</a:t>
              </a:r>
            </a:p>
          </p:txBody>
        </p:sp>
        <p:cxnSp>
          <p:nvCxnSpPr>
            <p:cNvPr id="10" name="Raven puščični povezovalnik 9">
              <a:extLst>
                <a:ext uri="{FF2B5EF4-FFF2-40B4-BE49-F238E27FC236}">
                  <a16:creationId xmlns:a16="http://schemas.microsoft.com/office/drawing/2014/main" id="{79EBC87C-A2C0-51F2-D52D-1A5A7D82AA6A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 flipH="1">
              <a:off x="5507534" y="694716"/>
              <a:ext cx="3114943" cy="502173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Raven puščični povezovalnik 10">
              <a:extLst>
                <a:ext uri="{FF2B5EF4-FFF2-40B4-BE49-F238E27FC236}">
                  <a16:creationId xmlns:a16="http://schemas.microsoft.com/office/drawing/2014/main" id="{09F2C48C-FCDD-1D62-9028-954828647327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 flipH="1">
              <a:off x="1473920" y="694716"/>
              <a:ext cx="7148557" cy="514137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Raven puščični povezovalnik 13">
              <a:extLst>
                <a:ext uri="{FF2B5EF4-FFF2-40B4-BE49-F238E27FC236}">
                  <a16:creationId xmlns:a16="http://schemas.microsoft.com/office/drawing/2014/main" id="{63ABE260-CE41-64CF-658A-85E35DF2220B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8622477" y="694716"/>
              <a:ext cx="3176647" cy="316758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569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44E93EB6-8FB8-5E23-D6EB-E614EC50F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148" y="743485"/>
            <a:ext cx="4533390" cy="4977926"/>
          </a:xfrm>
        </p:spPr>
      </p:pic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DBEA5E4D-ABF1-02FA-133D-017072FFA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7ACDA7F4-D45A-EAD6-702E-EA4DA010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9</a:t>
            </a:fld>
            <a:endParaRPr lang="sl-SI"/>
          </a:p>
        </p:txBody>
      </p:sp>
      <p:sp>
        <p:nvSpPr>
          <p:cNvPr id="2" name="PoljeZBesedilom 1">
            <a:extLst>
              <a:ext uri="{FF2B5EF4-FFF2-40B4-BE49-F238E27FC236}">
                <a16:creationId xmlns:a16="http://schemas.microsoft.com/office/drawing/2014/main" id="{D41D2B9A-AFE7-481E-9F50-A8C7AD960C46}"/>
              </a:ext>
            </a:extLst>
          </p:cNvPr>
          <p:cNvSpPr txBox="1"/>
          <p:nvPr/>
        </p:nvSpPr>
        <p:spPr>
          <a:xfrm>
            <a:off x="9248589" y="3889832"/>
            <a:ext cx="1993170" cy="923330"/>
          </a:xfrm>
          <a:prstGeom prst="rect">
            <a:avLst/>
          </a:prstGeom>
          <a:solidFill>
            <a:srgbClr val="DAE3F3">
              <a:alpha val="18039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dirty="0">
                <a:latin typeface="Calibri Light" panose="020F0302020204030204" pitchFamily="34" charset="0"/>
              </a:rPr>
              <a:t>Big </a:t>
            </a:r>
            <a:r>
              <a:rPr lang="sl-SI" dirty="0" err="1">
                <a:latin typeface="Calibri Light" panose="020F0302020204030204" pitchFamily="34" charset="0"/>
              </a:rPr>
              <a:t>improvement</a:t>
            </a:r>
            <a:r>
              <a:rPr lang="sl-SI" dirty="0">
                <a:latin typeface="Calibri Light" panose="020F0302020204030204" pitchFamily="34" charset="0"/>
              </a:rPr>
              <a:t> </a:t>
            </a:r>
            <a:r>
              <a:rPr lang="sl-SI" dirty="0" err="1">
                <a:latin typeface="Calibri Light" panose="020F0302020204030204" pitchFamily="34" charset="0"/>
              </a:rPr>
              <a:t>with</a:t>
            </a:r>
            <a:r>
              <a:rPr lang="sl-SI" dirty="0">
                <a:latin typeface="Calibri Light" panose="020F0302020204030204" pitchFamily="34" charset="0"/>
              </a:rPr>
              <a:t> </a:t>
            </a:r>
            <a:r>
              <a:rPr lang="sl-SI" dirty="0" err="1">
                <a:latin typeface="Calibri Light" panose="020F0302020204030204" pitchFamily="34" charset="0"/>
              </a:rPr>
              <a:t>the</a:t>
            </a:r>
            <a:r>
              <a:rPr lang="sl-SI" dirty="0">
                <a:latin typeface="Calibri Light" panose="020F0302020204030204" pitchFamily="34" charset="0"/>
              </a:rPr>
              <a:t> XL model (</a:t>
            </a:r>
            <a:r>
              <a:rPr lang="sl-SI" dirty="0" err="1">
                <a:latin typeface="Calibri Light" panose="020F0302020204030204" pitchFamily="34" charset="0"/>
              </a:rPr>
              <a:t>brute</a:t>
            </a:r>
            <a:r>
              <a:rPr lang="sl-SI" dirty="0">
                <a:latin typeface="Calibri Light" panose="020F0302020204030204" pitchFamily="34" charset="0"/>
              </a:rPr>
              <a:t> </a:t>
            </a:r>
            <a:r>
              <a:rPr lang="sl-SI" dirty="0" err="1">
                <a:latin typeface="Calibri Light" panose="020F0302020204030204" pitchFamily="34" charset="0"/>
              </a:rPr>
              <a:t>force</a:t>
            </a:r>
            <a:r>
              <a:rPr lang="sl-SI" dirty="0">
                <a:latin typeface="Calibri Light" panose="020F0302020204030204" pitchFamily="34" charset="0"/>
              </a:rPr>
              <a:t> </a:t>
            </a:r>
            <a:r>
              <a:rPr lang="sl-SI" dirty="0" err="1">
                <a:latin typeface="Calibri Light" panose="020F0302020204030204" pitchFamily="34" charset="0"/>
              </a:rPr>
              <a:t>works</a:t>
            </a:r>
            <a:r>
              <a:rPr lang="sl-SI" dirty="0">
                <a:latin typeface="Calibri Light" panose="020F0302020204030204" pitchFamily="34" charset="0"/>
                <a:sym typeface="Wingdings" panose="05000000000000000000" pitchFamily="2" charset="2"/>
              </a:rPr>
              <a:t>)</a:t>
            </a:r>
            <a:endParaRPr lang="sl-SI" dirty="0">
              <a:latin typeface="Calibri Light" panose="020F0302020204030204" pitchFamily="34" charset="0"/>
            </a:endParaRPr>
          </a:p>
        </p:txBody>
      </p:sp>
      <p:cxnSp>
        <p:nvCxnSpPr>
          <p:cNvPr id="7" name="Raven puščični povezovalnik 6">
            <a:extLst>
              <a:ext uri="{FF2B5EF4-FFF2-40B4-BE49-F238E27FC236}">
                <a16:creationId xmlns:a16="http://schemas.microsoft.com/office/drawing/2014/main" id="{AD844747-AC68-28C5-6362-B4E13767D31C}"/>
              </a:ext>
            </a:extLst>
          </p:cNvPr>
          <p:cNvCxnSpPr>
            <a:cxnSpLocks/>
            <a:stCxn id="2" idx="0"/>
          </p:cNvCxnSpPr>
          <p:nvPr/>
        </p:nvCxnSpPr>
        <p:spPr>
          <a:xfrm flipH="1" flipV="1">
            <a:off x="9698242" y="3519884"/>
            <a:ext cx="546932" cy="3699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oljeZBesedilom 8">
            <a:extLst>
              <a:ext uri="{FF2B5EF4-FFF2-40B4-BE49-F238E27FC236}">
                <a16:creationId xmlns:a16="http://schemas.microsoft.com/office/drawing/2014/main" id="{1A330EBF-0B5F-658D-1EC7-04A5A01007CA}"/>
              </a:ext>
            </a:extLst>
          </p:cNvPr>
          <p:cNvSpPr txBox="1"/>
          <p:nvPr/>
        </p:nvSpPr>
        <p:spPr>
          <a:xfrm>
            <a:off x="6962148" y="5721411"/>
            <a:ext cx="3214660" cy="307777"/>
          </a:xfrm>
          <a:prstGeom prst="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AUC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classifier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scores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for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EDM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models</a:t>
            </a:r>
            <a:endParaRPr lang="sl-SI" sz="160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grpSp>
        <p:nvGrpSpPr>
          <p:cNvPr id="11" name="Skupina 10">
            <a:extLst>
              <a:ext uri="{FF2B5EF4-FFF2-40B4-BE49-F238E27FC236}">
                <a16:creationId xmlns:a16="http://schemas.microsoft.com/office/drawing/2014/main" id="{784E0733-B885-A556-21A9-4C58EBC9258C}"/>
              </a:ext>
            </a:extLst>
          </p:cNvPr>
          <p:cNvGrpSpPr/>
          <p:nvPr/>
        </p:nvGrpSpPr>
        <p:grpSpPr>
          <a:xfrm>
            <a:off x="696464" y="743484"/>
            <a:ext cx="4533390" cy="5285704"/>
            <a:chOff x="491365" y="1179319"/>
            <a:chExt cx="4533390" cy="5285704"/>
          </a:xfrm>
        </p:grpSpPr>
        <p:sp>
          <p:nvSpPr>
            <p:cNvPr id="8" name="PoljeZBesedilom 7">
              <a:extLst>
                <a:ext uri="{FF2B5EF4-FFF2-40B4-BE49-F238E27FC236}">
                  <a16:creationId xmlns:a16="http://schemas.microsoft.com/office/drawing/2014/main" id="{FCACFDE3-D12E-7ECC-850F-5FC4A46D874A}"/>
                </a:ext>
              </a:extLst>
            </p:cNvPr>
            <p:cNvSpPr txBox="1"/>
            <p:nvPr/>
          </p:nvSpPr>
          <p:spPr>
            <a:xfrm>
              <a:off x="491365" y="6157246"/>
              <a:ext cx="4379737" cy="307777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31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400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AUC </a:t>
              </a:r>
              <a:r>
                <a:rPr lang="sl-SI" sz="1400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classifier</a:t>
              </a:r>
              <a:r>
                <a:rPr lang="sl-SI" sz="1400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400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scores</a:t>
              </a:r>
              <a:r>
                <a:rPr lang="sl-SI" sz="1400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400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for</a:t>
              </a:r>
              <a:r>
                <a:rPr lang="sl-SI" sz="1400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VP, VE </a:t>
              </a:r>
              <a:r>
                <a:rPr lang="sl-SI" sz="1400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and</a:t>
              </a:r>
              <a:r>
                <a:rPr lang="sl-SI" sz="1400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VP </a:t>
              </a:r>
              <a:r>
                <a:rPr lang="sl-SI" sz="1400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conv</a:t>
              </a:r>
              <a:r>
                <a:rPr lang="sl-SI" sz="1400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. </a:t>
              </a:r>
              <a:r>
                <a:rPr lang="sl-SI" sz="1400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models</a:t>
              </a:r>
              <a:endParaRPr lang="sl-SI" sz="1600" dirty="0">
                <a:solidFill>
                  <a:schemeClr val="bg1"/>
                </a:solidFill>
                <a:latin typeface="Calibri Light" panose="020F0302020204030204" pitchFamily="34" charset="0"/>
              </a:endParaRPr>
            </a:p>
          </p:txBody>
        </p:sp>
        <p:pic>
          <p:nvPicPr>
            <p:cNvPr id="10" name="Slika 9">
              <a:extLst>
                <a:ext uri="{FF2B5EF4-FFF2-40B4-BE49-F238E27FC236}">
                  <a16:creationId xmlns:a16="http://schemas.microsoft.com/office/drawing/2014/main" id="{55523BD0-83B5-A6B8-9678-EC190C337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1365" y="1179319"/>
              <a:ext cx="4533390" cy="49779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1647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avokotnik 8">
            <a:extLst>
              <a:ext uri="{FF2B5EF4-FFF2-40B4-BE49-F238E27FC236}">
                <a16:creationId xmlns:a16="http://schemas.microsoft.com/office/drawing/2014/main" id="{D29A281D-5C86-ECB8-2731-5C6A4113E5EB}"/>
              </a:ext>
            </a:extLst>
          </p:cNvPr>
          <p:cNvSpPr/>
          <p:nvPr/>
        </p:nvSpPr>
        <p:spPr>
          <a:xfrm>
            <a:off x="0" y="449263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F67D2B0C-B4D6-00FC-920E-67E303E88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8" y="302035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</a:rPr>
              <a:t>EDM </a:t>
            </a:r>
            <a:r>
              <a:rPr lang="sl-SI" sz="4000" b="1" dirty="0" err="1">
                <a:solidFill>
                  <a:schemeClr val="bg1"/>
                </a:solidFill>
              </a:rPr>
              <a:t>sampling</a:t>
            </a:r>
            <a:r>
              <a:rPr lang="sl-SI" sz="4000" b="1" dirty="0">
                <a:solidFill>
                  <a:schemeClr val="bg1"/>
                </a:solidFill>
              </a:rPr>
              <a:t> </a:t>
            </a:r>
            <a:r>
              <a:rPr lang="sl-SI" sz="4000" b="1" dirty="0" err="1">
                <a:solidFill>
                  <a:schemeClr val="bg1"/>
                </a:solidFill>
              </a:rPr>
              <a:t>problems</a:t>
            </a:r>
            <a:endParaRPr lang="sl-SI" sz="4000" b="1" dirty="0">
              <a:solidFill>
                <a:schemeClr val="bg1"/>
              </a:solidFill>
            </a:endParaRPr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6BAF8531-B53A-FA16-987A-585C9B6B2D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6853" y="3325020"/>
            <a:ext cx="4705349" cy="581026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9F3E6250-0422-604C-F29A-DEF655D5A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1552575"/>
            <a:ext cx="11087100" cy="1543051"/>
          </a:xfrm>
          <a:prstGeom prst="rect">
            <a:avLst/>
          </a:prstGeom>
        </p:spPr>
      </p:pic>
      <p:pic>
        <p:nvPicPr>
          <p:cNvPr id="13" name="Slika 12">
            <a:extLst>
              <a:ext uri="{FF2B5EF4-FFF2-40B4-BE49-F238E27FC236}">
                <a16:creationId xmlns:a16="http://schemas.microsoft.com/office/drawing/2014/main" id="{AF94C2A6-09BC-070A-2C7C-0FCD1D00E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4181798"/>
            <a:ext cx="11036557" cy="1088381"/>
          </a:xfrm>
          <a:prstGeom prst="rect">
            <a:avLst/>
          </a:prstGeom>
        </p:spPr>
      </p:pic>
      <p:grpSp>
        <p:nvGrpSpPr>
          <p:cNvPr id="23" name="Skupina 22">
            <a:extLst>
              <a:ext uri="{FF2B5EF4-FFF2-40B4-BE49-F238E27FC236}">
                <a16:creationId xmlns:a16="http://schemas.microsoft.com/office/drawing/2014/main" id="{FAFA412B-7369-CB01-ADDA-283B6D23D87C}"/>
              </a:ext>
            </a:extLst>
          </p:cNvPr>
          <p:cNvGrpSpPr/>
          <p:nvPr/>
        </p:nvGrpSpPr>
        <p:grpSpPr>
          <a:xfrm>
            <a:off x="6090254" y="5430587"/>
            <a:ext cx="929881" cy="462601"/>
            <a:chOff x="6090255" y="5430585"/>
            <a:chExt cx="929880" cy="4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1" name="Rokopis 20">
                  <a:extLst>
                    <a:ext uri="{FF2B5EF4-FFF2-40B4-BE49-F238E27FC236}">
                      <a16:creationId xmlns:a16="http://schemas.microsoft.com/office/drawing/2014/main" id="{8FB64848-55A9-8F17-F3BF-E3E4A7373EFD}"/>
                    </a:ext>
                  </a:extLst>
                </p14:cNvPr>
                <p14:cNvContentPartPr/>
                <p14:nvPr/>
              </p14:nvContentPartPr>
              <p14:xfrm>
                <a:off x="6124455" y="5448225"/>
                <a:ext cx="895680" cy="444960"/>
              </p14:xfrm>
            </p:contentPart>
          </mc:Choice>
          <mc:Fallback xmlns="">
            <p:pic>
              <p:nvPicPr>
                <p:cNvPr id="21" name="Rokopis 20">
                  <a:extLst>
                    <a:ext uri="{FF2B5EF4-FFF2-40B4-BE49-F238E27FC236}">
                      <a16:creationId xmlns:a16="http://schemas.microsoft.com/office/drawing/2014/main" id="{8FB64848-55A9-8F17-F3BF-E3E4A7373EF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61815" y="5385225"/>
                  <a:ext cx="102132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2" name="Rokopis 21">
                  <a:extLst>
                    <a:ext uri="{FF2B5EF4-FFF2-40B4-BE49-F238E27FC236}">
                      <a16:creationId xmlns:a16="http://schemas.microsoft.com/office/drawing/2014/main" id="{1A7AF93B-C4F5-673D-A159-705F3A7F4344}"/>
                    </a:ext>
                  </a:extLst>
                </p14:cNvPr>
                <p14:cNvContentPartPr/>
                <p14:nvPr/>
              </p14:nvContentPartPr>
              <p14:xfrm>
                <a:off x="6090255" y="5430585"/>
                <a:ext cx="263880" cy="189720"/>
              </p14:xfrm>
            </p:contentPart>
          </mc:Choice>
          <mc:Fallback xmlns="">
            <p:pic>
              <p:nvPicPr>
                <p:cNvPr id="22" name="Rokopis 21">
                  <a:extLst>
                    <a:ext uri="{FF2B5EF4-FFF2-40B4-BE49-F238E27FC236}">
                      <a16:creationId xmlns:a16="http://schemas.microsoft.com/office/drawing/2014/main" id="{1A7AF93B-C4F5-673D-A159-705F3A7F434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27615" y="5367945"/>
                  <a:ext cx="389520" cy="315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0" name="PoljeZBesedilom 29">
            <a:extLst>
              <a:ext uri="{FF2B5EF4-FFF2-40B4-BE49-F238E27FC236}">
                <a16:creationId xmlns:a16="http://schemas.microsoft.com/office/drawing/2014/main" id="{862C9B29-671C-3BA5-95B2-B7C79ED2F842}"/>
              </a:ext>
            </a:extLst>
          </p:cNvPr>
          <p:cNvSpPr txBox="1"/>
          <p:nvPr/>
        </p:nvSpPr>
        <p:spPr>
          <a:xfrm>
            <a:off x="7162803" y="5670705"/>
            <a:ext cx="4438651" cy="646587"/>
          </a:xfrm>
          <a:prstGeom prst="rect">
            <a:avLst/>
          </a:prstGeom>
          <a:solidFill>
            <a:srgbClr val="DAE3F3">
              <a:alpha val="20000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1801" dirty="0" err="1">
                <a:solidFill>
                  <a:schemeClr val="bg1"/>
                </a:solidFill>
                <a:latin typeface="Calibri Light" panose="020F0302020204030204" pitchFamily="34" charset="0"/>
              </a:rPr>
              <a:t>These</a:t>
            </a:r>
            <a:r>
              <a:rPr lang="sl-SI" sz="180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801" dirty="0" err="1">
                <a:solidFill>
                  <a:schemeClr val="bg1"/>
                </a:solidFill>
                <a:latin typeface="Calibri Light" panose="020F0302020204030204" pitchFamily="34" charset="0"/>
              </a:rPr>
              <a:t>have</a:t>
            </a:r>
            <a:r>
              <a:rPr lang="sl-SI" sz="180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801" dirty="0" err="1">
                <a:solidFill>
                  <a:schemeClr val="bg1"/>
                </a:solidFill>
                <a:latin typeface="Calibri Light" panose="020F0302020204030204" pitchFamily="34" charset="0"/>
              </a:rPr>
              <a:t>been</a:t>
            </a:r>
            <a:r>
              <a:rPr lang="sl-SI" sz="1801" dirty="0">
                <a:solidFill>
                  <a:schemeClr val="bg1"/>
                </a:solidFill>
                <a:latin typeface="Calibri Light" panose="020F0302020204030204" pitchFamily="34" charset="0"/>
              </a:rPr>
              <a:t> „</a:t>
            </a:r>
            <a:r>
              <a:rPr lang="sl-SI" sz="1801" dirty="0" err="1">
                <a:solidFill>
                  <a:schemeClr val="bg1"/>
                </a:solidFill>
                <a:latin typeface="Calibri Light" panose="020F0302020204030204" pitchFamily="34" charset="0"/>
              </a:rPr>
              <a:t>optimized</a:t>
            </a:r>
            <a:r>
              <a:rPr lang="sl-SI" sz="1801" dirty="0">
                <a:solidFill>
                  <a:schemeClr val="bg1"/>
                </a:solidFill>
                <a:latin typeface="Calibri Light" panose="020F0302020204030204" pitchFamily="34" charset="0"/>
              </a:rPr>
              <a:t>“, </a:t>
            </a:r>
            <a:r>
              <a:rPr lang="sl-SI" sz="1801" dirty="0" err="1">
                <a:solidFill>
                  <a:schemeClr val="bg1"/>
                </a:solidFill>
                <a:latin typeface="Calibri Light" panose="020F0302020204030204" pitchFamily="34" charset="0"/>
              </a:rPr>
              <a:t>but</a:t>
            </a:r>
            <a:r>
              <a:rPr lang="sl-SI" sz="180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801" dirty="0" err="1">
                <a:solidFill>
                  <a:schemeClr val="bg1"/>
                </a:solidFill>
                <a:latin typeface="Calibri Light" panose="020F0302020204030204" pitchFamily="34" charset="0"/>
              </a:rPr>
              <a:t>low</a:t>
            </a:r>
            <a:r>
              <a:rPr lang="sl-SI" sz="1801" dirty="0">
                <a:solidFill>
                  <a:schemeClr val="bg1"/>
                </a:solidFill>
                <a:latin typeface="Calibri Light" panose="020F0302020204030204" pitchFamily="34" charset="0"/>
              </a:rPr>
              <a:t>  variance </a:t>
            </a:r>
            <a:r>
              <a:rPr lang="sl-SI" sz="1801" dirty="0" err="1">
                <a:solidFill>
                  <a:schemeClr val="bg1"/>
                </a:solidFill>
                <a:latin typeface="Calibri Light" panose="020F0302020204030204" pitchFamily="34" charset="0"/>
              </a:rPr>
              <a:t>problems</a:t>
            </a:r>
            <a:r>
              <a:rPr lang="sl-SI" sz="180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801" dirty="0" err="1">
                <a:solidFill>
                  <a:schemeClr val="bg1"/>
                </a:solidFill>
                <a:latin typeface="Calibri Light" panose="020F0302020204030204" pitchFamily="34" charset="0"/>
              </a:rPr>
              <a:t>remain</a:t>
            </a:r>
            <a:r>
              <a:rPr lang="sl-SI" sz="180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801" dirty="0" err="1">
                <a:solidFill>
                  <a:schemeClr val="bg1"/>
                </a:solidFill>
                <a:latin typeface="Calibri Light" panose="020F0302020204030204" pitchFamily="34" charset="0"/>
              </a:rPr>
              <a:t>after</a:t>
            </a:r>
            <a:r>
              <a:rPr lang="sl-SI" sz="180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801" dirty="0" err="1">
                <a:solidFill>
                  <a:schemeClr val="bg1"/>
                </a:solidFill>
                <a:latin typeface="Calibri Light" panose="020F0302020204030204" pitchFamily="34" charset="0"/>
              </a:rPr>
              <a:t>training</a:t>
            </a:r>
            <a:r>
              <a:rPr lang="sl-SI" sz="1801" dirty="0">
                <a:solidFill>
                  <a:schemeClr val="bg1"/>
                </a:solidFill>
                <a:latin typeface="Calibri Light" panose="020F0302020204030204" pitchFamily="34" charset="0"/>
              </a:rPr>
              <a:t>.</a:t>
            </a: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6B814BFC-0FDC-4FEF-A238-BAC804EE9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B477E247-1C33-0625-F260-742C4F017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10</a:t>
            </a:fld>
            <a:endParaRPr lang="sl-SI" dirty="0"/>
          </a:p>
        </p:txBody>
      </p:sp>
      <p:grpSp>
        <p:nvGrpSpPr>
          <p:cNvPr id="6" name="Skupina 5">
            <a:extLst>
              <a:ext uri="{FF2B5EF4-FFF2-40B4-BE49-F238E27FC236}">
                <a16:creationId xmlns:a16="http://schemas.microsoft.com/office/drawing/2014/main" id="{17B4CBA1-7D12-65DE-B549-0F3E0D52D19B}"/>
              </a:ext>
            </a:extLst>
          </p:cNvPr>
          <p:cNvGrpSpPr/>
          <p:nvPr/>
        </p:nvGrpSpPr>
        <p:grpSpPr>
          <a:xfrm rot="10800000">
            <a:off x="4594798" y="2763600"/>
            <a:ext cx="929881" cy="462601"/>
            <a:chOff x="6090255" y="5430585"/>
            <a:chExt cx="929880" cy="4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Rokopis 6">
                  <a:extLst>
                    <a:ext uri="{FF2B5EF4-FFF2-40B4-BE49-F238E27FC236}">
                      <a16:creationId xmlns:a16="http://schemas.microsoft.com/office/drawing/2014/main" id="{46381E16-B2D3-3A9A-BCD7-B61F9A6398D6}"/>
                    </a:ext>
                  </a:extLst>
                </p14:cNvPr>
                <p14:cNvContentPartPr/>
                <p14:nvPr/>
              </p14:nvContentPartPr>
              <p14:xfrm>
                <a:off x="6124455" y="5448225"/>
                <a:ext cx="895680" cy="444960"/>
              </p14:xfrm>
            </p:contentPart>
          </mc:Choice>
          <mc:Fallback xmlns="">
            <p:pic>
              <p:nvPicPr>
                <p:cNvPr id="21" name="Rokopis 20">
                  <a:extLst>
                    <a:ext uri="{FF2B5EF4-FFF2-40B4-BE49-F238E27FC236}">
                      <a16:creationId xmlns:a16="http://schemas.microsoft.com/office/drawing/2014/main" id="{8FB64848-55A9-8F17-F3BF-E3E4A7373EF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61815" y="5385225"/>
                  <a:ext cx="102132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Rokopis 7">
                  <a:extLst>
                    <a:ext uri="{FF2B5EF4-FFF2-40B4-BE49-F238E27FC236}">
                      <a16:creationId xmlns:a16="http://schemas.microsoft.com/office/drawing/2014/main" id="{B22C3B73-49DC-C74B-5F07-82CE8BFBB852}"/>
                    </a:ext>
                  </a:extLst>
                </p14:cNvPr>
                <p14:cNvContentPartPr/>
                <p14:nvPr/>
              </p14:nvContentPartPr>
              <p14:xfrm>
                <a:off x="6090255" y="5430585"/>
                <a:ext cx="263880" cy="189720"/>
              </p14:xfrm>
            </p:contentPart>
          </mc:Choice>
          <mc:Fallback xmlns="">
            <p:pic>
              <p:nvPicPr>
                <p:cNvPr id="22" name="Rokopis 21">
                  <a:extLst>
                    <a:ext uri="{FF2B5EF4-FFF2-40B4-BE49-F238E27FC236}">
                      <a16:creationId xmlns:a16="http://schemas.microsoft.com/office/drawing/2014/main" id="{1A7AF93B-C4F5-673D-A159-705F3A7F434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27615" y="5367945"/>
                  <a:ext cx="389520" cy="315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80556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avokotnik 9">
            <a:extLst>
              <a:ext uri="{FF2B5EF4-FFF2-40B4-BE49-F238E27FC236}">
                <a16:creationId xmlns:a16="http://schemas.microsoft.com/office/drawing/2014/main" id="{AED27078-F7C8-692F-7B48-C4FE0114AEF1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EA913A6-1F59-5E26-4083-80197DBBA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</a:rPr>
              <a:t>EDM </a:t>
            </a:r>
            <a:r>
              <a:rPr lang="sl-SI" sz="4000" b="1" dirty="0" err="1">
                <a:solidFill>
                  <a:schemeClr val="bg1"/>
                </a:solidFill>
              </a:rPr>
              <a:t>training</a:t>
            </a:r>
            <a:endParaRPr lang="sl-SI" sz="4000" b="1" dirty="0">
              <a:solidFill>
                <a:schemeClr val="bg1"/>
              </a:solidFill>
            </a:endParaRPr>
          </a:p>
        </p:txBody>
      </p:sp>
      <p:pic>
        <p:nvPicPr>
          <p:cNvPr id="11" name="Slika 10">
            <a:extLst>
              <a:ext uri="{FF2B5EF4-FFF2-40B4-BE49-F238E27FC236}">
                <a16:creationId xmlns:a16="http://schemas.microsoft.com/office/drawing/2014/main" id="{1B63ABD4-161D-9A1B-2B40-1BC9A2225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172" y="379806"/>
            <a:ext cx="5504852" cy="59765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Rokopis 11">
                <a:extLst>
                  <a:ext uri="{FF2B5EF4-FFF2-40B4-BE49-F238E27FC236}">
                    <a16:creationId xmlns:a16="http://schemas.microsoft.com/office/drawing/2014/main" id="{802F98BD-B244-CD39-8A7D-DDCAEC2190D8}"/>
                  </a:ext>
                </a:extLst>
              </p14:cNvPr>
              <p14:cNvContentPartPr/>
              <p14:nvPr/>
            </p14:nvContentPartPr>
            <p14:xfrm>
              <a:off x="-743265" y="352425"/>
              <a:ext cx="360" cy="360"/>
            </p14:xfrm>
          </p:contentPart>
        </mc:Choice>
        <mc:Fallback xmlns="">
          <p:pic>
            <p:nvPicPr>
              <p:cNvPr id="12" name="Rokopis 11">
                <a:extLst>
                  <a:ext uri="{FF2B5EF4-FFF2-40B4-BE49-F238E27FC236}">
                    <a16:creationId xmlns:a16="http://schemas.microsoft.com/office/drawing/2014/main" id="{802F98BD-B244-CD39-8A7D-DDCAEC2190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779265" y="316425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PoljeZBesedilom 22">
            <a:extLst>
              <a:ext uri="{FF2B5EF4-FFF2-40B4-BE49-F238E27FC236}">
                <a16:creationId xmlns:a16="http://schemas.microsoft.com/office/drawing/2014/main" id="{0441314C-8EC6-126D-385D-B664A9656D24}"/>
              </a:ext>
            </a:extLst>
          </p:cNvPr>
          <p:cNvSpPr txBox="1"/>
          <p:nvPr/>
        </p:nvSpPr>
        <p:spPr>
          <a:xfrm>
            <a:off x="2750075" y="1577495"/>
            <a:ext cx="2840630" cy="1015663"/>
          </a:xfrm>
          <a:prstGeom prst="rect">
            <a:avLst/>
          </a:prstGeom>
          <a:solidFill>
            <a:srgbClr val="DAE3F3">
              <a:alpha val="18039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Starting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loss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already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small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,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then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it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barely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improves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.</a:t>
            </a:r>
          </a:p>
        </p:txBody>
      </p:sp>
      <p:sp>
        <p:nvSpPr>
          <p:cNvPr id="24" name="PoljeZBesedilom 23">
            <a:extLst>
              <a:ext uri="{FF2B5EF4-FFF2-40B4-BE49-F238E27FC236}">
                <a16:creationId xmlns:a16="http://schemas.microsoft.com/office/drawing/2014/main" id="{CCB590CE-7CA8-4388-B141-39E739A5E1FC}"/>
              </a:ext>
            </a:extLst>
          </p:cNvPr>
          <p:cNvSpPr txBox="1"/>
          <p:nvPr/>
        </p:nvSpPr>
        <p:spPr>
          <a:xfrm>
            <a:off x="2750075" y="2631637"/>
            <a:ext cx="2840630" cy="707886"/>
          </a:xfrm>
          <a:prstGeom prst="rect">
            <a:avLst/>
          </a:prstGeom>
          <a:solidFill>
            <a:srgbClr val="DAE3F3">
              <a:alpha val="18039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Noisy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even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at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low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learning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rates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(1E-5)</a:t>
            </a: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72242336-5295-20FD-7C95-A9A2F6A1F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063F3F17-3588-AB5A-21E9-3EE30D07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11</a:t>
            </a:fld>
            <a:endParaRPr lang="sl-SI"/>
          </a:p>
        </p:txBody>
      </p:sp>
      <p:cxnSp>
        <p:nvCxnSpPr>
          <p:cNvPr id="5" name="Raven puščični povezovalnik 4">
            <a:extLst>
              <a:ext uri="{FF2B5EF4-FFF2-40B4-BE49-F238E27FC236}">
                <a16:creationId xmlns:a16="http://schemas.microsoft.com/office/drawing/2014/main" id="{3F854387-8E36-F68A-489B-54E8B0EF5A17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5590705" y="2085327"/>
            <a:ext cx="108356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oljeZBesedilom 6">
            <a:extLst>
              <a:ext uri="{FF2B5EF4-FFF2-40B4-BE49-F238E27FC236}">
                <a16:creationId xmlns:a16="http://schemas.microsoft.com/office/drawing/2014/main" id="{8822BC59-403A-10EB-6AAD-6E3C9FB090C0}"/>
              </a:ext>
            </a:extLst>
          </p:cNvPr>
          <p:cNvSpPr txBox="1"/>
          <p:nvPr/>
        </p:nvSpPr>
        <p:spPr>
          <a:xfrm>
            <a:off x="2750075" y="5032911"/>
            <a:ext cx="2840630" cy="1323439"/>
          </a:xfrm>
          <a:prstGeom prst="rect">
            <a:avLst/>
          </a:prstGeom>
          <a:solidFill>
            <a:srgbClr val="DAE3F3">
              <a:alpha val="18039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Cosine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annealing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schedule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with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warm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restarts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and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increasing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period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worked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best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5781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03E3868-CC67-925E-E514-B0143AEEF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906" y="-175594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Training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samples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snapshots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for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EDM</a:t>
            </a:r>
          </a:p>
        </p:txBody>
      </p:sp>
      <p:grpSp>
        <p:nvGrpSpPr>
          <p:cNvPr id="5" name="Skupina 4">
            <a:extLst>
              <a:ext uri="{FF2B5EF4-FFF2-40B4-BE49-F238E27FC236}">
                <a16:creationId xmlns:a16="http://schemas.microsoft.com/office/drawing/2014/main" id="{904C4837-9931-BC86-0825-11382CF2B16B}"/>
              </a:ext>
            </a:extLst>
          </p:cNvPr>
          <p:cNvGrpSpPr/>
          <p:nvPr/>
        </p:nvGrpSpPr>
        <p:grpSpPr>
          <a:xfrm>
            <a:off x="465041" y="430007"/>
            <a:ext cx="11261925" cy="5997993"/>
            <a:chOff x="0" y="450384"/>
            <a:chExt cx="12192001" cy="6493341"/>
          </a:xfrm>
        </p:grpSpPr>
        <p:pic>
          <p:nvPicPr>
            <p:cNvPr id="16" name="Slika 15">
              <a:extLst>
                <a:ext uri="{FF2B5EF4-FFF2-40B4-BE49-F238E27FC236}">
                  <a16:creationId xmlns:a16="http://schemas.microsoft.com/office/drawing/2014/main" id="{C8EBBFBB-DE96-8BC7-A258-9ABDE24265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47725"/>
              <a:ext cx="12192000" cy="6096000"/>
            </a:xfrm>
            <a:prstGeom prst="rect">
              <a:avLst/>
            </a:prstGeom>
          </p:spPr>
        </p:pic>
        <p:sp>
          <p:nvSpPr>
            <p:cNvPr id="17" name="PoljeZBesedilom 16">
              <a:extLst>
                <a:ext uri="{FF2B5EF4-FFF2-40B4-BE49-F238E27FC236}">
                  <a16:creationId xmlns:a16="http://schemas.microsoft.com/office/drawing/2014/main" id="{E0CB1E6F-5CB6-F187-BC04-4A2BAE521346}"/>
                </a:ext>
              </a:extLst>
            </p:cNvPr>
            <p:cNvSpPr txBox="1"/>
            <p:nvPr/>
          </p:nvSpPr>
          <p:spPr>
            <a:xfrm>
              <a:off x="10459918" y="450384"/>
              <a:ext cx="1732083" cy="39997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0/196</a:t>
              </a:r>
            </a:p>
          </p:txBody>
        </p:sp>
      </p:grp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3221365F-7E05-6C8A-AB8E-2910DBF22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2474" y="6407131"/>
            <a:ext cx="3727060" cy="330718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1E16F1CA-A295-C0D7-CD52-8C5C0F3BA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2861" y="6407131"/>
            <a:ext cx="2484706" cy="330718"/>
          </a:xfrm>
        </p:spPr>
        <p:txBody>
          <a:bodyPr/>
          <a:lstStyle/>
          <a:p>
            <a:fld id="{C5B056C3-474E-40CD-87BE-C691853342BB}" type="slidenum">
              <a:rPr lang="sl-SI" smtClean="0"/>
              <a:t>12</a:t>
            </a:fld>
            <a:endParaRPr lang="sl-SI"/>
          </a:p>
        </p:txBody>
      </p:sp>
      <p:grpSp>
        <p:nvGrpSpPr>
          <p:cNvPr id="6" name="Skupina 5">
            <a:extLst>
              <a:ext uri="{FF2B5EF4-FFF2-40B4-BE49-F238E27FC236}">
                <a16:creationId xmlns:a16="http://schemas.microsoft.com/office/drawing/2014/main" id="{0A944188-E528-4A93-6373-3BBA3320E2E8}"/>
              </a:ext>
            </a:extLst>
          </p:cNvPr>
          <p:cNvGrpSpPr/>
          <p:nvPr/>
        </p:nvGrpSpPr>
        <p:grpSpPr>
          <a:xfrm>
            <a:off x="465039" y="430007"/>
            <a:ext cx="11261925" cy="5997993"/>
            <a:chOff x="0" y="450384"/>
            <a:chExt cx="12192000" cy="6493341"/>
          </a:xfrm>
        </p:grpSpPr>
        <p:pic>
          <p:nvPicPr>
            <p:cNvPr id="21" name="Slika 20">
              <a:extLst>
                <a:ext uri="{FF2B5EF4-FFF2-40B4-BE49-F238E27FC236}">
                  <a16:creationId xmlns:a16="http://schemas.microsoft.com/office/drawing/2014/main" id="{23B46C32-0E57-1211-A1C1-A2C3A071A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47725"/>
              <a:ext cx="12192000" cy="6096000"/>
            </a:xfrm>
            <a:prstGeom prst="rect">
              <a:avLst/>
            </a:prstGeom>
          </p:spPr>
        </p:pic>
        <p:sp>
          <p:nvSpPr>
            <p:cNvPr id="18" name="PoljeZBesedilom 17">
              <a:extLst>
                <a:ext uri="{FF2B5EF4-FFF2-40B4-BE49-F238E27FC236}">
                  <a16:creationId xmlns:a16="http://schemas.microsoft.com/office/drawing/2014/main" id="{EF705993-B3E8-7575-5C45-65F267DEDA05}"/>
                </a:ext>
              </a:extLst>
            </p:cNvPr>
            <p:cNvSpPr txBox="1"/>
            <p:nvPr/>
          </p:nvSpPr>
          <p:spPr>
            <a:xfrm>
              <a:off x="10459917" y="450384"/>
              <a:ext cx="1732083" cy="39997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93/196</a:t>
              </a:r>
            </a:p>
          </p:txBody>
        </p:sp>
      </p:grpSp>
      <p:grpSp>
        <p:nvGrpSpPr>
          <p:cNvPr id="7" name="Skupina 6">
            <a:extLst>
              <a:ext uri="{FF2B5EF4-FFF2-40B4-BE49-F238E27FC236}">
                <a16:creationId xmlns:a16="http://schemas.microsoft.com/office/drawing/2014/main" id="{2B3C81E6-AB42-6C49-D061-6E732DEC58A4}"/>
              </a:ext>
            </a:extLst>
          </p:cNvPr>
          <p:cNvGrpSpPr/>
          <p:nvPr/>
        </p:nvGrpSpPr>
        <p:grpSpPr>
          <a:xfrm>
            <a:off x="465039" y="430007"/>
            <a:ext cx="11261925" cy="5997993"/>
            <a:chOff x="0" y="450384"/>
            <a:chExt cx="12192000" cy="6493341"/>
          </a:xfrm>
        </p:grpSpPr>
        <p:sp>
          <p:nvSpPr>
            <p:cNvPr id="19" name="PoljeZBesedilom 18">
              <a:extLst>
                <a:ext uri="{FF2B5EF4-FFF2-40B4-BE49-F238E27FC236}">
                  <a16:creationId xmlns:a16="http://schemas.microsoft.com/office/drawing/2014/main" id="{F3B5A9FC-BDB5-D3BE-537C-C911E46929FA}"/>
                </a:ext>
              </a:extLst>
            </p:cNvPr>
            <p:cNvSpPr txBox="1"/>
            <p:nvPr/>
          </p:nvSpPr>
          <p:spPr>
            <a:xfrm>
              <a:off x="10459915" y="450384"/>
              <a:ext cx="1732085" cy="39997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192/196</a:t>
              </a:r>
            </a:p>
          </p:txBody>
        </p:sp>
        <p:pic>
          <p:nvPicPr>
            <p:cNvPr id="23" name="Slika 22">
              <a:extLst>
                <a:ext uri="{FF2B5EF4-FFF2-40B4-BE49-F238E27FC236}">
                  <a16:creationId xmlns:a16="http://schemas.microsoft.com/office/drawing/2014/main" id="{7CAF71A1-01AA-D414-8959-65F0373D2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47725"/>
              <a:ext cx="12192000" cy="609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6613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kotnik 4">
            <a:extLst>
              <a:ext uri="{FF2B5EF4-FFF2-40B4-BE49-F238E27FC236}">
                <a16:creationId xmlns:a16="http://schemas.microsoft.com/office/drawing/2014/main" id="{458D0242-30DB-B14A-46C2-3D92D11FACB4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53124491-7C2A-4618-D764-8C4B06A67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</a:rPr>
              <a:t>Distribution</a:t>
            </a:r>
            <a:r>
              <a:rPr lang="sl-SI" sz="4000" b="1" dirty="0">
                <a:solidFill>
                  <a:schemeClr val="bg1"/>
                </a:solidFill>
              </a:rPr>
              <a:t> </a:t>
            </a:r>
            <a:r>
              <a:rPr lang="sl-SI" sz="4000" b="1" dirty="0" err="1">
                <a:solidFill>
                  <a:schemeClr val="bg1"/>
                </a:solidFill>
              </a:rPr>
              <a:t>distances</a:t>
            </a:r>
            <a:endParaRPr lang="sl-SI" sz="4000" b="1" dirty="0">
              <a:solidFill>
                <a:schemeClr val="bg1"/>
              </a:solidFill>
            </a:endParaRPr>
          </a:p>
        </p:txBody>
      </p:sp>
      <p:sp>
        <p:nvSpPr>
          <p:cNvPr id="7" name="Označba mesta vsebine 6">
            <a:extLst>
              <a:ext uri="{FF2B5EF4-FFF2-40B4-BE49-F238E27FC236}">
                <a16:creationId xmlns:a16="http://schemas.microsoft.com/office/drawing/2014/main" id="{9740A6B3-2E53-ABEC-2DFF-5FB92CE11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4718654" cy="4351339"/>
          </a:xfrm>
        </p:spPr>
        <p:txBody>
          <a:bodyPr>
            <a:normAutofit/>
          </a:bodyPr>
          <a:lstStyle/>
          <a:p>
            <a:r>
              <a:rPr lang="sl-SI" sz="2400" dirty="0" err="1">
                <a:solidFill>
                  <a:schemeClr val="bg1"/>
                </a:solidFill>
              </a:rPr>
              <a:t>Best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performers</a:t>
            </a:r>
            <a:r>
              <a:rPr lang="sl-SI" sz="2400" dirty="0">
                <a:solidFill>
                  <a:schemeClr val="bg1"/>
                </a:solidFill>
              </a:rPr>
              <a:t>: EDM xl, VP </a:t>
            </a:r>
            <a:r>
              <a:rPr lang="sl-SI" sz="2400" dirty="0" err="1">
                <a:solidFill>
                  <a:schemeClr val="bg1"/>
                </a:solidFill>
              </a:rPr>
              <a:t>conv</a:t>
            </a:r>
            <a:r>
              <a:rPr lang="sl-SI" sz="2400" dirty="0">
                <a:solidFill>
                  <a:schemeClr val="bg1"/>
                </a:solidFill>
              </a:rPr>
              <a:t>. </a:t>
            </a:r>
            <a:r>
              <a:rPr lang="sl-SI" sz="2400" dirty="0" err="1">
                <a:solidFill>
                  <a:schemeClr val="bg1"/>
                </a:solidFill>
              </a:rPr>
              <a:t>and</a:t>
            </a:r>
            <a:r>
              <a:rPr lang="sl-SI" sz="2400" dirty="0">
                <a:solidFill>
                  <a:schemeClr val="bg1"/>
                </a:solidFill>
              </a:rPr>
              <a:t> DDPM </a:t>
            </a:r>
          </a:p>
          <a:p>
            <a:r>
              <a:rPr lang="sl-SI" sz="2400" dirty="0">
                <a:solidFill>
                  <a:schemeClr val="bg1"/>
                </a:solidFill>
              </a:rPr>
              <a:t>VP </a:t>
            </a:r>
            <a:r>
              <a:rPr lang="sl-SI" sz="2400" dirty="0" err="1">
                <a:solidFill>
                  <a:schemeClr val="bg1"/>
                </a:solidFill>
              </a:rPr>
              <a:t>conv</a:t>
            </a:r>
            <a:r>
              <a:rPr lang="sl-SI" sz="2400" dirty="0">
                <a:solidFill>
                  <a:schemeClr val="bg1"/>
                </a:solidFill>
              </a:rPr>
              <a:t>. </a:t>
            </a:r>
            <a:r>
              <a:rPr lang="sl-SI" sz="2400" dirty="0" err="1">
                <a:solidFill>
                  <a:schemeClr val="bg1"/>
                </a:solidFill>
              </a:rPr>
              <a:t>underperforms</a:t>
            </a:r>
            <a:r>
              <a:rPr lang="sl-SI" sz="2400" dirty="0">
                <a:solidFill>
                  <a:schemeClr val="bg1"/>
                </a:solidFill>
              </a:rPr>
              <a:t> on </a:t>
            </a:r>
            <a:r>
              <a:rPr lang="sl-SI" sz="2400" dirty="0" err="1">
                <a:solidFill>
                  <a:schemeClr val="bg1"/>
                </a:solidFill>
              </a:rPr>
              <a:t>the</a:t>
            </a:r>
            <a:r>
              <a:rPr lang="sl-SI" sz="2400" dirty="0">
                <a:solidFill>
                  <a:schemeClr val="bg1"/>
                </a:solidFill>
              </a:rPr>
              <a:t> C2ST test </a:t>
            </a:r>
            <a:r>
              <a:rPr lang="sl-SI" sz="2400" dirty="0" err="1">
                <a:solidFill>
                  <a:schemeClr val="bg1"/>
                </a:solidFill>
              </a:rPr>
              <a:t>despite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good</a:t>
            </a:r>
            <a:r>
              <a:rPr lang="sl-SI" sz="2400" dirty="0">
                <a:solidFill>
                  <a:schemeClr val="bg1"/>
                </a:solidFill>
              </a:rPr>
              <a:t> distance </a:t>
            </a:r>
            <a:r>
              <a:rPr lang="sl-SI" sz="2400" dirty="0" err="1">
                <a:solidFill>
                  <a:schemeClr val="bg1"/>
                </a:solidFill>
              </a:rPr>
              <a:t>results</a:t>
            </a:r>
            <a:endParaRPr lang="sl-SI" sz="2400" dirty="0">
              <a:solidFill>
                <a:schemeClr val="bg1"/>
              </a:solidFill>
            </a:endParaRPr>
          </a:p>
        </p:txBody>
      </p:sp>
      <p:sp>
        <p:nvSpPr>
          <p:cNvPr id="8" name="Označba mesta vsebine 7">
            <a:extLst>
              <a:ext uri="{FF2B5EF4-FFF2-40B4-BE49-F238E27FC236}">
                <a16:creationId xmlns:a16="http://schemas.microsoft.com/office/drawing/2014/main" id="{DAB7E0B5-2EB1-A129-9F05-0002863CEF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E8749F34-D372-3C55-E52E-1DD367046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909133C8-5DE0-64F7-A701-462105EA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13</a:t>
            </a:fld>
            <a:endParaRPr lang="sl-SI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48F3E590-8778-D513-139A-6F9ACB077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528" y="361845"/>
            <a:ext cx="5796946" cy="599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194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vokotnik 1">
            <a:extLst>
              <a:ext uri="{FF2B5EF4-FFF2-40B4-BE49-F238E27FC236}">
                <a16:creationId xmlns:a16="http://schemas.microsoft.com/office/drawing/2014/main" id="{FCAC5E78-4D35-2C31-1C56-ACB22A622889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6" name="Naslov 1">
            <a:extLst>
              <a:ext uri="{FF2B5EF4-FFF2-40B4-BE49-F238E27FC236}">
                <a16:creationId xmlns:a16="http://schemas.microsoft.com/office/drawing/2014/main" id="{B6481266-F638-6513-F81C-378D025BD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</a:rPr>
              <a:t>Ratio tests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značba mesta vsebine 12">
                <a:extLst>
                  <a:ext uri="{FF2B5EF4-FFF2-40B4-BE49-F238E27FC236}">
                    <a16:creationId xmlns:a16="http://schemas.microsoft.com/office/drawing/2014/main" id="{2CD67647-CD84-AA80-DD23-14A65DF57D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4" y="1665396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sl-SI" sz="2400" i="1" dirty="0">
                    <a:solidFill>
                      <a:schemeClr val="bg1"/>
                    </a:solidFill>
                  </a:rPr>
                  <a:t>r(x)=</a:t>
                </a:r>
                <a:r>
                  <a:rPr lang="sl-SI" i="1" dirty="0">
                    <a:solidFill>
                      <a:schemeClr val="bg1"/>
                    </a:solidFill>
                  </a:rPr>
                  <a:t>P</a:t>
                </a:r>
                <a:r>
                  <a:rPr lang="sl-SI" i="1" baseline="-25000" dirty="0">
                    <a:solidFill>
                      <a:schemeClr val="bg1"/>
                    </a:solidFill>
                  </a:rPr>
                  <a:t>ML</a:t>
                </a:r>
                <a:r>
                  <a:rPr lang="sl-SI" i="1" dirty="0">
                    <a:solidFill>
                      <a:schemeClr val="bg1"/>
                    </a:solidFill>
                  </a:rPr>
                  <a:t>(x) / P</a:t>
                </a:r>
                <a:r>
                  <a:rPr lang="sl-SI" i="1" baseline="-25000" dirty="0">
                    <a:solidFill>
                      <a:schemeClr val="bg1"/>
                    </a:solidFill>
                  </a:rPr>
                  <a:t>MC</a:t>
                </a:r>
                <a:r>
                  <a:rPr lang="sl-SI" i="1" dirty="0">
                    <a:solidFill>
                      <a:schemeClr val="bg1"/>
                    </a:solidFill>
                  </a:rPr>
                  <a:t>(x)</a:t>
                </a:r>
                <a:r>
                  <a:rPr lang="sl-SI" sz="2400" dirty="0">
                    <a:solidFill>
                      <a:schemeClr val="bg1"/>
                    </a:solidFill>
                  </a:rPr>
                  <a:t> </a:t>
                </a:r>
                <a:r>
                  <a:rPr lang="sl-SI" sz="2400" dirty="0" err="1">
                    <a:solidFill>
                      <a:schemeClr val="bg1"/>
                    </a:solidFill>
                  </a:rPr>
                  <a:t>estimated</a:t>
                </a:r>
                <a:r>
                  <a:rPr lang="sl-SI" sz="2400" dirty="0">
                    <a:solidFill>
                      <a:schemeClr val="bg1"/>
                    </a:solidFill>
                  </a:rPr>
                  <a:t> as </a:t>
                </a:r>
                <a:r>
                  <a:rPr lang="sl-SI" sz="2400" i="1" dirty="0">
                    <a:solidFill>
                      <a:schemeClr val="bg1"/>
                    </a:solidFill>
                  </a:rPr>
                  <a:t>r(x)</a:t>
                </a:r>
                <a:r>
                  <a:rPr lang="sl-SI" sz="2400" dirty="0">
                    <a:solidFill>
                      <a:schemeClr val="bg1"/>
                    </a:solidFill>
                  </a:rPr>
                  <a:t>≈</a:t>
                </a:r>
                <a:r>
                  <a:rPr lang="sl-SI" sz="2400" dirty="0" err="1">
                    <a:solidFill>
                      <a:schemeClr val="bg1"/>
                    </a:solidFill>
                  </a:rPr>
                  <a:t>exp</a:t>
                </a:r>
                <a:r>
                  <a:rPr lang="sl-SI" sz="2400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l-SI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l-SI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sl-SI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sl-SI" sz="2400" dirty="0">
                    <a:solidFill>
                      <a:schemeClr val="bg1"/>
                    </a:solidFill>
                  </a:rPr>
                  <a:t>[</a:t>
                </a:r>
                <a:r>
                  <a:rPr lang="sl-SI" sz="2400" i="1" dirty="0">
                    <a:solidFill>
                      <a:schemeClr val="bg1"/>
                    </a:solidFill>
                  </a:rPr>
                  <a:t>f</a:t>
                </a:r>
                <a:r>
                  <a:rPr lang="sl-SI" sz="2400" dirty="0">
                    <a:solidFill>
                      <a:schemeClr val="bg1"/>
                    </a:solidFill>
                  </a:rPr>
                  <a:t>(</a:t>
                </a:r>
                <a:r>
                  <a:rPr lang="sl-SI" sz="2400" b="1" dirty="0">
                    <a:solidFill>
                      <a:schemeClr val="bg1"/>
                    </a:solidFill>
                  </a:rPr>
                  <a:t>x</a:t>
                </a:r>
                <a:r>
                  <a:rPr lang="sl-SI" sz="2400" dirty="0">
                    <a:solidFill>
                      <a:schemeClr val="bg1"/>
                    </a:solidFill>
                  </a:rPr>
                  <a:t>; </a:t>
                </a:r>
                <a14:m>
                  <m:oMath xmlns:m="http://schemas.openxmlformats.org/officeDocument/2006/math">
                    <m:r>
                      <a:rPr lang="sl-SI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sl-SI" sz="2400" dirty="0">
                    <a:solidFill>
                      <a:schemeClr val="bg1"/>
                    </a:solidFill>
                  </a:rPr>
                  <a:t>)])</a:t>
                </a:r>
              </a:p>
              <a:p>
                <a:r>
                  <a:rPr lang="sl-SI" sz="2400" dirty="0">
                    <a:solidFill>
                      <a:schemeClr val="bg1"/>
                    </a:solidFill>
                  </a:rPr>
                  <a:t>~1.5 % </a:t>
                </a:r>
                <a:r>
                  <a:rPr lang="sl-SI" sz="2400" dirty="0" err="1">
                    <a:solidFill>
                      <a:schemeClr val="bg1"/>
                    </a:solidFill>
                  </a:rPr>
                  <a:t>of</a:t>
                </a:r>
                <a:r>
                  <a:rPr lang="sl-SI" sz="2400" dirty="0">
                    <a:solidFill>
                      <a:schemeClr val="bg1"/>
                    </a:solidFill>
                  </a:rPr>
                  <a:t> data in </a:t>
                </a:r>
                <a:r>
                  <a:rPr lang="sl-SI" sz="2400" dirty="0" err="1">
                    <a:solidFill>
                      <a:schemeClr val="bg1"/>
                    </a:solidFill>
                  </a:rPr>
                  <a:t>the</a:t>
                </a:r>
                <a:r>
                  <a:rPr lang="sl-SI" sz="2400" dirty="0">
                    <a:solidFill>
                      <a:schemeClr val="bg1"/>
                    </a:solidFill>
                  </a:rPr>
                  <a:t> </a:t>
                </a:r>
                <a:r>
                  <a:rPr lang="sl-SI" sz="2400" dirty="0" err="1">
                    <a:solidFill>
                      <a:schemeClr val="bg1"/>
                    </a:solidFill>
                  </a:rPr>
                  <a:t>tails</a:t>
                </a:r>
                <a:endParaRPr lang="sl-SI" sz="2400" dirty="0">
                  <a:solidFill>
                    <a:schemeClr val="bg1"/>
                  </a:solidFill>
                </a:endParaRPr>
              </a:p>
              <a:p>
                <a:endParaRPr lang="sl-SI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" name="Označba mesta vsebine 12">
                <a:extLst>
                  <a:ext uri="{FF2B5EF4-FFF2-40B4-BE49-F238E27FC236}">
                    <a16:creationId xmlns:a16="http://schemas.microsoft.com/office/drawing/2014/main" id="{2CD67647-CD84-AA80-DD23-14A65DF57D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4" y="1665396"/>
                <a:ext cx="10515600" cy="4351338"/>
              </a:xfrm>
              <a:blipFill>
                <a:blip r:embed="rId2"/>
                <a:stretch>
                  <a:fillRect l="-812" t="-2241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C8ADA07A-34F7-C856-A577-783C868D7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35D5A325-6417-2729-F6BF-818FAC8E2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14</a:t>
            </a:fld>
            <a:endParaRPr lang="sl-SI"/>
          </a:p>
        </p:txBody>
      </p:sp>
      <p:grpSp>
        <p:nvGrpSpPr>
          <p:cNvPr id="12" name="Skupina 11">
            <a:extLst>
              <a:ext uri="{FF2B5EF4-FFF2-40B4-BE49-F238E27FC236}">
                <a16:creationId xmlns:a16="http://schemas.microsoft.com/office/drawing/2014/main" id="{7A8DF376-DF11-40D3-1B60-758CA15A768E}"/>
              </a:ext>
            </a:extLst>
          </p:cNvPr>
          <p:cNvGrpSpPr/>
          <p:nvPr/>
        </p:nvGrpSpPr>
        <p:grpSpPr>
          <a:xfrm>
            <a:off x="1561549" y="2740855"/>
            <a:ext cx="9068902" cy="3914840"/>
            <a:chOff x="1561260" y="1607846"/>
            <a:chExt cx="9068902" cy="3914840"/>
          </a:xfrm>
        </p:grpSpPr>
        <p:grpSp>
          <p:nvGrpSpPr>
            <p:cNvPr id="7" name="Skupina 6">
              <a:extLst>
                <a:ext uri="{FF2B5EF4-FFF2-40B4-BE49-F238E27FC236}">
                  <a16:creationId xmlns:a16="http://schemas.microsoft.com/office/drawing/2014/main" id="{11A5D8CF-393D-3439-14F4-69FACB955892}"/>
                </a:ext>
              </a:extLst>
            </p:cNvPr>
            <p:cNvGrpSpPr/>
            <p:nvPr/>
          </p:nvGrpSpPr>
          <p:grpSpPr>
            <a:xfrm>
              <a:off x="1561260" y="1607846"/>
              <a:ext cx="9068902" cy="3404628"/>
              <a:chOff x="423986" y="1889428"/>
              <a:chExt cx="11369150" cy="4268182"/>
            </a:xfrm>
          </p:grpSpPr>
          <p:pic>
            <p:nvPicPr>
              <p:cNvPr id="14" name="Slika 13">
                <a:extLst>
                  <a:ext uri="{FF2B5EF4-FFF2-40B4-BE49-F238E27FC236}">
                    <a16:creationId xmlns:a16="http://schemas.microsoft.com/office/drawing/2014/main" id="{C003C5F2-1077-6C81-978A-4C2BCBFDD7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3986" y="1889428"/>
                <a:ext cx="5477828" cy="4268182"/>
              </a:xfrm>
              <a:prstGeom prst="rect">
                <a:avLst/>
              </a:prstGeom>
            </p:spPr>
          </p:pic>
          <p:pic>
            <p:nvPicPr>
              <p:cNvPr id="8" name="Slika 7">
                <a:extLst>
                  <a:ext uri="{FF2B5EF4-FFF2-40B4-BE49-F238E27FC236}">
                    <a16:creationId xmlns:a16="http://schemas.microsoft.com/office/drawing/2014/main" id="{6035BB16-B51A-3F34-BE35-7FBE881C17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9520" y="1889428"/>
                <a:ext cx="5063616" cy="4268182"/>
              </a:xfrm>
              <a:prstGeom prst="rect">
                <a:avLst/>
              </a:prstGeom>
            </p:spPr>
          </p:pic>
        </p:grpSp>
        <p:sp>
          <p:nvSpPr>
            <p:cNvPr id="9" name="PoljeZBesedilom 8">
              <a:extLst>
                <a:ext uri="{FF2B5EF4-FFF2-40B4-BE49-F238E27FC236}">
                  <a16:creationId xmlns:a16="http://schemas.microsoft.com/office/drawing/2014/main" id="{D2E0009B-A84D-66CE-CBD5-58777026F9CE}"/>
                </a:ext>
              </a:extLst>
            </p:cNvPr>
            <p:cNvSpPr txBox="1"/>
            <p:nvPr/>
          </p:nvSpPr>
          <p:spPr>
            <a:xfrm>
              <a:off x="3276980" y="5061020"/>
              <a:ext cx="16493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l-SI" sz="2400" b="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DDPM </a:t>
              </a:r>
            </a:p>
          </p:txBody>
        </p:sp>
        <p:sp>
          <p:nvSpPr>
            <p:cNvPr id="11" name="PoljeZBesedilom 10">
              <a:extLst>
                <a:ext uri="{FF2B5EF4-FFF2-40B4-BE49-F238E27FC236}">
                  <a16:creationId xmlns:a16="http://schemas.microsoft.com/office/drawing/2014/main" id="{2875A46F-2589-325E-3E58-66B6AA15B9BC}"/>
                </a:ext>
              </a:extLst>
            </p:cNvPr>
            <p:cNvSpPr txBox="1"/>
            <p:nvPr/>
          </p:nvSpPr>
          <p:spPr>
            <a:xfrm>
              <a:off x="7463374" y="5061021"/>
              <a:ext cx="229445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sl-SI" sz="2400" b="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EDM (xl model)</a:t>
              </a:r>
            </a:p>
          </p:txBody>
        </p:sp>
      </p:grpSp>
      <p:sp>
        <p:nvSpPr>
          <p:cNvPr id="15" name="PoljeZBesedilom 14">
            <a:extLst>
              <a:ext uri="{FF2B5EF4-FFF2-40B4-BE49-F238E27FC236}">
                <a16:creationId xmlns:a16="http://schemas.microsoft.com/office/drawing/2014/main" id="{87D35328-E1D4-D665-548A-0A517EBC4271}"/>
              </a:ext>
            </a:extLst>
          </p:cNvPr>
          <p:cNvSpPr txBox="1"/>
          <p:nvPr/>
        </p:nvSpPr>
        <p:spPr>
          <a:xfrm>
            <a:off x="8610600" y="845694"/>
            <a:ext cx="2743195" cy="400110"/>
          </a:xfrm>
          <a:prstGeom prst="rect">
            <a:avLst/>
          </a:prstGeom>
          <a:solidFill>
            <a:srgbClr val="DAE3F3">
              <a:alpha val="2117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C2ST </a:t>
            </a:r>
            <a:r>
              <a:rPr lang="sl-SI" sz="20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Classifier</a:t>
            </a:r>
            <a:r>
              <a:rPr lang="sl-SI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output</a:t>
            </a:r>
            <a:endParaRPr lang="sl-SI" sz="200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cxnSp>
        <p:nvCxnSpPr>
          <p:cNvPr id="16" name="Raven puščični povezovalnik 15">
            <a:extLst>
              <a:ext uri="{FF2B5EF4-FFF2-40B4-BE49-F238E27FC236}">
                <a16:creationId xmlns:a16="http://schemas.microsoft.com/office/drawing/2014/main" id="{09F9A997-7C29-9A9F-0275-FB04F4306784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7772404" y="1245804"/>
            <a:ext cx="2209794" cy="44488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691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avokotnik 2">
            <a:extLst>
              <a:ext uri="{FF2B5EF4-FFF2-40B4-BE49-F238E27FC236}">
                <a16:creationId xmlns:a16="http://schemas.microsoft.com/office/drawing/2014/main" id="{4004976F-DCC6-757C-5AFD-EC2F8B70AE5B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0" name="PoljeZBesedilom 19">
            <a:extLst>
              <a:ext uri="{FF2B5EF4-FFF2-40B4-BE49-F238E27FC236}">
                <a16:creationId xmlns:a16="http://schemas.microsoft.com/office/drawing/2014/main" id="{D98832FA-F4FE-B41B-98ED-31A898522182}"/>
              </a:ext>
            </a:extLst>
          </p:cNvPr>
          <p:cNvSpPr txBox="1"/>
          <p:nvPr/>
        </p:nvSpPr>
        <p:spPr>
          <a:xfrm>
            <a:off x="10544187" y="1661782"/>
            <a:ext cx="856788" cy="3694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sl-SI" sz="180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DDPM</a:t>
            </a: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2A2BC61C-2BED-324F-37DF-928E1E28F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>
                    <a:lumMod val="95000"/>
                  </a:schemeClr>
                </a:solidFill>
              </a:rPr>
              <a:t>Distributions</a:t>
            </a:r>
            <a:r>
              <a:rPr lang="sl-SI" sz="40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sl-SI" sz="4000" b="1" dirty="0" err="1">
                <a:solidFill>
                  <a:schemeClr val="bg1">
                    <a:lumMod val="95000"/>
                  </a:schemeClr>
                </a:solidFill>
              </a:rPr>
              <a:t>after</a:t>
            </a:r>
            <a:r>
              <a:rPr lang="sl-SI" sz="40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sl-SI" sz="4000" b="1" dirty="0" err="1">
                <a:solidFill>
                  <a:schemeClr val="bg1">
                    <a:lumMod val="95000"/>
                  </a:schemeClr>
                </a:solidFill>
              </a:rPr>
              <a:t>the</a:t>
            </a:r>
            <a:r>
              <a:rPr lang="sl-SI" sz="40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sl-SI" sz="4000" b="1" dirty="0" err="1">
                <a:solidFill>
                  <a:schemeClr val="bg1">
                    <a:lumMod val="95000"/>
                  </a:schemeClr>
                </a:solidFill>
              </a:rPr>
              <a:t>cut</a:t>
            </a:r>
            <a:endParaRPr lang="sl-SI" sz="4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Označba mesta vsebine 17">
            <a:extLst>
              <a:ext uri="{FF2B5EF4-FFF2-40B4-BE49-F238E27FC236}">
                <a16:creationId xmlns:a16="http://schemas.microsoft.com/office/drawing/2014/main" id="{6EF9FA5A-77C0-81F6-85D3-E91F7EFA3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11" y="1592176"/>
            <a:ext cx="10515600" cy="4351338"/>
          </a:xfrm>
        </p:spPr>
        <p:txBody>
          <a:bodyPr>
            <a:normAutofit/>
          </a:bodyPr>
          <a:lstStyle/>
          <a:p>
            <a:r>
              <a:rPr lang="sl-SI" sz="2400" dirty="0">
                <a:solidFill>
                  <a:schemeClr val="bg1"/>
                </a:solidFill>
              </a:rPr>
              <a:t>EDM </a:t>
            </a:r>
            <a:r>
              <a:rPr lang="sl-SI" sz="2400" dirty="0" err="1">
                <a:solidFill>
                  <a:schemeClr val="bg1"/>
                </a:solidFill>
              </a:rPr>
              <a:t>struggles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with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high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level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features</a:t>
            </a:r>
            <a:r>
              <a:rPr lang="sl-SI" sz="2400" dirty="0">
                <a:solidFill>
                  <a:schemeClr val="bg1"/>
                </a:solidFill>
              </a:rPr>
              <a:t>, </a:t>
            </a:r>
            <a:r>
              <a:rPr lang="sl-SI" sz="2400" dirty="0" err="1">
                <a:solidFill>
                  <a:schemeClr val="bg1"/>
                </a:solidFill>
              </a:rPr>
              <a:t>low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varince</a:t>
            </a:r>
            <a:r>
              <a:rPr lang="sl-SI" sz="2400" dirty="0">
                <a:solidFill>
                  <a:schemeClr val="bg1"/>
                </a:solidFill>
              </a:rPr>
              <a:t> problem </a:t>
            </a: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AF6C286D-B333-344F-8B5C-CBE24CBD1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89772D52-90CD-4076-D0CE-0C85D86B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15</a:t>
            </a:fld>
            <a:endParaRPr lang="sl-SI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03BF84DB-2FB7-08D7-A235-CE72FE866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88" y="2038557"/>
            <a:ext cx="10752489" cy="4317792"/>
          </a:xfrm>
          <a:prstGeom prst="rect">
            <a:avLst/>
          </a:prstGeom>
        </p:spPr>
      </p:pic>
      <p:grpSp>
        <p:nvGrpSpPr>
          <p:cNvPr id="23" name="Skupina 22">
            <a:extLst>
              <a:ext uri="{FF2B5EF4-FFF2-40B4-BE49-F238E27FC236}">
                <a16:creationId xmlns:a16="http://schemas.microsoft.com/office/drawing/2014/main" id="{0811A1C8-2980-02A3-B626-AD9DD9C769EC}"/>
              </a:ext>
            </a:extLst>
          </p:cNvPr>
          <p:cNvGrpSpPr/>
          <p:nvPr/>
        </p:nvGrpSpPr>
        <p:grpSpPr>
          <a:xfrm>
            <a:off x="648490" y="1659680"/>
            <a:ext cx="10754199" cy="4696670"/>
            <a:chOff x="648486" y="1659679"/>
            <a:chExt cx="10754199" cy="4696671"/>
          </a:xfrm>
        </p:grpSpPr>
        <p:sp>
          <p:nvSpPr>
            <p:cNvPr id="19" name="PoljeZBesedilom 18">
              <a:extLst>
                <a:ext uri="{FF2B5EF4-FFF2-40B4-BE49-F238E27FC236}">
                  <a16:creationId xmlns:a16="http://schemas.microsoft.com/office/drawing/2014/main" id="{009C42BC-024C-3B2D-1C63-37A09115DDD1}"/>
                </a:ext>
              </a:extLst>
            </p:cNvPr>
            <p:cNvSpPr txBox="1"/>
            <p:nvPr/>
          </p:nvSpPr>
          <p:spPr>
            <a:xfrm>
              <a:off x="10544185" y="1659679"/>
              <a:ext cx="856788" cy="36946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EDM</a:t>
              </a:r>
            </a:p>
          </p:txBody>
        </p:sp>
        <p:pic>
          <p:nvPicPr>
            <p:cNvPr id="22" name="Slika 21">
              <a:extLst>
                <a:ext uri="{FF2B5EF4-FFF2-40B4-BE49-F238E27FC236}">
                  <a16:creationId xmlns:a16="http://schemas.microsoft.com/office/drawing/2014/main" id="{260AB353-97AD-C7D6-1EE7-BBA58D92A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486" y="2038558"/>
              <a:ext cx="10754199" cy="43177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345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avokotnik 10">
            <a:extLst>
              <a:ext uri="{FF2B5EF4-FFF2-40B4-BE49-F238E27FC236}">
                <a16:creationId xmlns:a16="http://schemas.microsoft.com/office/drawing/2014/main" id="{BD448D9E-0441-8226-6797-6188846D0A57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BE77DAF-C46B-E356-0D5A-DFBE0006C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</a:rPr>
              <a:t>Sig.-</a:t>
            </a:r>
            <a:r>
              <a:rPr lang="sl-SI" sz="4000" b="1" dirty="0" err="1">
                <a:solidFill>
                  <a:schemeClr val="bg1"/>
                </a:solidFill>
              </a:rPr>
              <a:t>Bkg</a:t>
            </a:r>
            <a:r>
              <a:rPr lang="sl-SI" sz="4000" b="1" dirty="0">
                <a:solidFill>
                  <a:schemeClr val="bg1"/>
                </a:solidFill>
              </a:rPr>
              <a:t>. </a:t>
            </a:r>
            <a:r>
              <a:rPr lang="sl-SI" sz="4000" b="1" dirty="0" err="1">
                <a:solidFill>
                  <a:schemeClr val="bg1"/>
                </a:solidFill>
              </a:rPr>
              <a:t>ratios</a:t>
            </a:r>
            <a:endParaRPr lang="sl-SI" sz="4000" b="1" dirty="0">
              <a:solidFill>
                <a:schemeClr val="bg1"/>
              </a:solidFill>
            </a:endParaRP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0AD9167C-10C8-99DA-AC47-960E74A12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D84433B7-0043-DACA-627E-E8F9534F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16</a:t>
            </a:fld>
            <a:endParaRPr lang="sl-SI"/>
          </a:p>
        </p:txBody>
      </p:sp>
      <p:sp>
        <p:nvSpPr>
          <p:cNvPr id="6" name="PoljeZBesedilom 5">
            <a:extLst>
              <a:ext uri="{FF2B5EF4-FFF2-40B4-BE49-F238E27FC236}">
                <a16:creationId xmlns:a16="http://schemas.microsoft.com/office/drawing/2014/main" id="{E7BBD971-0F1D-11A3-C7B8-B2E7E4497B1C}"/>
              </a:ext>
            </a:extLst>
          </p:cNvPr>
          <p:cNvSpPr txBox="1"/>
          <p:nvPr/>
        </p:nvSpPr>
        <p:spPr>
          <a:xfrm>
            <a:off x="3212079" y="6134092"/>
            <a:ext cx="1649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2400" b="1" dirty="0">
                <a:solidFill>
                  <a:schemeClr val="bg1"/>
                </a:solidFill>
                <a:latin typeface="Calibri Light" panose="020F0302020204030204" pitchFamily="34" charset="0"/>
              </a:rPr>
              <a:t>DDPM </a:t>
            </a:r>
          </a:p>
        </p:txBody>
      </p:sp>
      <p:sp>
        <p:nvSpPr>
          <p:cNvPr id="7" name="PoljeZBesedilom 6">
            <a:extLst>
              <a:ext uri="{FF2B5EF4-FFF2-40B4-BE49-F238E27FC236}">
                <a16:creationId xmlns:a16="http://schemas.microsoft.com/office/drawing/2014/main" id="{E24EA6D4-B894-583B-262A-C2F1B0A7DF63}"/>
              </a:ext>
            </a:extLst>
          </p:cNvPr>
          <p:cNvSpPr txBox="1"/>
          <p:nvPr/>
        </p:nvSpPr>
        <p:spPr>
          <a:xfrm>
            <a:off x="7463376" y="6151093"/>
            <a:ext cx="22944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2400" b="1" dirty="0">
                <a:solidFill>
                  <a:schemeClr val="bg1"/>
                </a:solidFill>
                <a:latin typeface="Calibri Light" panose="020F0302020204030204" pitchFamily="34" charset="0"/>
              </a:rPr>
              <a:t>EDM (xl model)</a:t>
            </a:r>
          </a:p>
        </p:txBody>
      </p:sp>
      <p:sp>
        <p:nvSpPr>
          <p:cNvPr id="8" name="PoljeZBesedilom 7">
            <a:extLst>
              <a:ext uri="{FF2B5EF4-FFF2-40B4-BE49-F238E27FC236}">
                <a16:creationId xmlns:a16="http://schemas.microsoft.com/office/drawing/2014/main" id="{E89200A7-0978-1F4E-61FD-6B7EF17CD2F0}"/>
              </a:ext>
            </a:extLst>
          </p:cNvPr>
          <p:cNvSpPr txBox="1"/>
          <p:nvPr/>
        </p:nvSpPr>
        <p:spPr>
          <a:xfrm>
            <a:off x="6232288" y="629982"/>
            <a:ext cx="4895849" cy="646331"/>
          </a:xfrm>
          <a:prstGeom prst="rect">
            <a:avLst/>
          </a:prstGeom>
          <a:solidFill>
            <a:srgbClr val="B4C7E7">
              <a:alpha val="20000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dirty="0">
                <a:solidFill>
                  <a:schemeClr val="bg1"/>
                </a:solidFill>
                <a:latin typeface="Calibri Light" panose="020F0302020204030204" pitchFamily="34" charset="0"/>
              </a:rPr>
              <a:t>Sig.-</a:t>
            </a:r>
            <a:r>
              <a:rPr lang="sl-SI" dirty="0" err="1">
                <a:solidFill>
                  <a:schemeClr val="bg1"/>
                </a:solidFill>
                <a:latin typeface="Calibri Light" panose="020F0302020204030204" pitchFamily="34" charset="0"/>
              </a:rPr>
              <a:t>bkg</a:t>
            </a:r>
            <a:r>
              <a:rPr lang="sl-SI" dirty="0">
                <a:solidFill>
                  <a:schemeClr val="bg1"/>
                </a:solidFill>
                <a:latin typeface="Calibri Light" panose="020F0302020204030204" pitchFamily="34" charset="0"/>
              </a:rPr>
              <a:t>. </a:t>
            </a:r>
            <a:r>
              <a:rPr lang="sl-SI" dirty="0" err="1">
                <a:solidFill>
                  <a:schemeClr val="bg1"/>
                </a:solidFill>
                <a:latin typeface="Calibri Light" panose="020F0302020204030204" pitchFamily="34" charset="0"/>
              </a:rPr>
              <a:t>classifier</a:t>
            </a:r>
            <a:r>
              <a:rPr lang="sl-SI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dirty="0" err="1">
                <a:solidFill>
                  <a:schemeClr val="bg1"/>
                </a:solidFill>
                <a:latin typeface="Calibri Light" panose="020F0302020204030204" pitchFamily="34" charset="0"/>
              </a:rPr>
              <a:t>outputs</a:t>
            </a:r>
            <a:r>
              <a:rPr lang="sl-SI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dirty="0" err="1">
                <a:solidFill>
                  <a:schemeClr val="bg1"/>
                </a:solidFill>
                <a:latin typeface="Calibri Light" panose="020F0302020204030204" pitchFamily="34" charset="0"/>
              </a:rPr>
              <a:t>for</a:t>
            </a:r>
            <a:r>
              <a:rPr lang="sl-SI" dirty="0">
                <a:solidFill>
                  <a:schemeClr val="bg1"/>
                </a:solidFill>
                <a:latin typeface="Calibri Light" panose="020F0302020204030204" pitchFamily="34" charset="0"/>
              </a:rPr>
              <a:t> MC sig., MC </a:t>
            </a:r>
            <a:r>
              <a:rPr lang="sl-SI" dirty="0" err="1">
                <a:solidFill>
                  <a:schemeClr val="bg1"/>
                </a:solidFill>
                <a:latin typeface="Calibri Light" panose="020F0302020204030204" pitchFamily="34" charset="0"/>
              </a:rPr>
              <a:t>bkg</a:t>
            </a:r>
            <a:r>
              <a:rPr lang="sl-SI" dirty="0">
                <a:solidFill>
                  <a:schemeClr val="bg1"/>
                </a:solidFill>
                <a:latin typeface="Calibri Light" panose="020F0302020204030204" pitchFamily="34" charset="0"/>
              </a:rPr>
              <a:t>. </a:t>
            </a:r>
            <a:r>
              <a:rPr lang="sl-SI" dirty="0" err="1">
                <a:solidFill>
                  <a:schemeClr val="bg1"/>
                </a:solidFill>
                <a:latin typeface="Calibri Light" panose="020F0302020204030204" pitchFamily="34" charset="0"/>
              </a:rPr>
              <a:t>and</a:t>
            </a:r>
            <a:r>
              <a:rPr lang="sl-SI" dirty="0">
                <a:solidFill>
                  <a:schemeClr val="bg1"/>
                </a:solidFill>
                <a:latin typeface="Calibri Light" panose="020F0302020204030204" pitchFamily="34" charset="0"/>
              </a:rPr>
              <a:t> ML </a:t>
            </a:r>
            <a:r>
              <a:rPr lang="sl-SI" dirty="0" err="1">
                <a:solidFill>
                  <a:schemeClr val="bg1"/>
                </a:solidFill>
                <a:latin typeface="Calibri Light" panose="020F0302020204030204" pitchFamily="34" charset="0"/>
              </a:rPr>
              <a:t>bkg</a:t>
            </a:r>
            <a:r>
              <a:rPr lang="sl-SI" dirty="0">
                <a:solidFill>
                  <a:schemeClr val="bg1"/>
                </a:solidFill>
                <a:latin typeface="Calibri Light" panose="020F0302020204030204" pitchFamily="34" charset="0"/>
              </a:rPr>
              <a:t>. (~2.6 mil. </a:t>
            </a:r>
            <a:r>
              <a:rPr lang="sl-SI" dirty="0" err="1">
                <a:solidFill>
                  <a:schemeClr val="bg1"/>
                </a:solidFill>
                <a:latin typeface="Calibri Light" panose="020F0302020204030204" pitchFamily="34" charset="0"/>
              </a:rPr>
              <a:t>events</a:t>
            </a:r>
            <a:r>
              <a:rPr lang="sl-SI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dirty="0" err="1">
                <a:solidFill>
                  <a:schemeClr val="bg1"/>
                </a:solidFill>
                <a:latin typeface="Calibri Light" panose="020F0302020204030204" pitchFamily="34" charset="0"/>
              </a:rPr>
              <a:t>each</a:t>
            </a:r>
            <a:r>
              <a:rPr lang="sl-SI" dirty="0">
                <a:solidFill>
                  <a:schemeClr val="bg1"/>
                </a:solidFill>
                <a:latin typeface="Calibri Light" panose="020F0302020204030204" pitchFamily="34" charset="0"/>
              </a:rPr>
              <a:t>)</a:t>
            </a:r>
          </a:p>
        </p:txBody>
      </p:sp>
      <p:cxnSp>
        <p:nvCxnSpPr>
          <p:cNvPr id="12" name="Raven puščični povezovalnik 11">
            <a:extLst>
              <a:ext uri="{FF2B5EF4-FFF2-40B4-BE49-F238E27FC236}">
                <a16:creationId xmlns:a16="http://schemas.microsoft.com/office/drawing/2014/main" id="{F1FC4374-6FA2-020C-0DBC-105FF95AA3F3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 flipH="1">
            <a:off x="8485004" y="1276313"/>
            <a:ext cx="195209" cy="3091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Slika 19" descr="Slika, ki vsebuje besede besedilo, diagram, vrstica, grafični prikaz&#10;&#10;Vsebina, ustvarjena z UI, morda ni pravilna.">
            <a:extLst>
              <a:ext uri="{FF2B5EF4-FFF2-40B4-BE49-F238E27FC236}">
                <a16:creationId xmlns:a16="http://schemas.microsoft.com/office/drawing/2014/main" id="{5CDC5D5D-B08B-7449-A285-B88081500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733" y="1585442"/>
            <a:ext cx="3844432" cy="4586905"/>
          </a:xfrm>
          <a:prstGeom prst="rect">
            <a:avLst/>
          </a:prstGeom>
        </p:spPr>
      </p:pic>
      <p:pic>
        <p:nvPicPr>
          <p:cNvPr id="22" name="Slika 21" descr="Slika, ki vsebuje besede besedilo, vrstica, diagram, grafični prikaz&#10;&#10;Vsebina, ustvarjena z UI, morda ni pravilna.">
            <a:extLst>
              <a:ext uri="{FF2B5EF4-FFF2-40B4-BE49-F238E27FC236}">
                <a16:creationId xmlns:a16="http://schemas.microsoft.com/office/drawing/2014/main" id="{238D4C0F-CB39-2FD5-5E3D-72AA22341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88" y="1585442"/>
            <a:ext cx="3844431" cy="4586903"/>
          </a:xfrm>
          <a:prstGeom prst="rect">
            <a:avLst/>
          </a:prstGeom>
        </p:spPr>
      </p:pic>
      <p:cxnSp>
        <p:nvCxnSpPr>
          <p:cNvPr id="23" name="Raven puščični povezovalnik 22">
            <a:extLst>
              <a:ext uri="{FF2B5EF4-FFF2-40B4-BE49-F238E27FC236}">
                <a16:creationId xmlns:a16="http://schemas.microsoft.com/office/drawing/2014/main" id="{72E76475-FEEC-5F8A-BD02-07098EE3770D}"/>
              </a:ext>
            </a:extLst>
          </p:cNvPr>
          <p:cNvCxnSpPr>
            <a:cxnSpLocks/>
            <a:stCxn id="8" idx="2"/>
            <a:endCxn id="20" idx="0"/>
          </p:cNvCxnSpPr>
          <p:nvPr/>
        </p:nvCxnSpPr>
        <p:spPr>
          <a:xfrm flipH="1">
            <a:off x="3704949" y="1276313"/>
            <a:ext cx="4975264" cy="3091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284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Skupina 17">
            <a:extLst>
              <a:ext uri="{FF2B5EF4-FFF2-40B4-BE49-F238E27FC236}">
                <a16:creationId xmlns:a16="http://schemas.microsoft.com/office/drawing/2014/main" id="{07EC6753-1AC0-A281-51C4-6AC0B5EC6C92}"/>
              </a:ext>
            </a:extLst>
          </p:cNvPr>
          <p:cNvGrpSpPr/>
          <p:nvPr/>
        </p:nvGrpSpPr>
        <p:grpSpPr>
          <a:xfrm>
            <a:off x="0" y="136523"/>
            <a:ext cx="12192000" cy="1325563"/>
            <a:chOff x="0" y="415540"/>
            <a:chExt cx="12192000" cy="1325563"/>
          </a:xfrm>
        </p:grpSpPr>
        <p:sp>
          <p:nvSpPr>
            <p:cNvPr id="16" name="Pravokotnik 15">
              <a:extLst>
                <a:ext uri="{FF2B5EF4-FFF2-40B4-BE49-F238E27FC236}">
                  <a16:creationId xmlns:a16="http://schemas.microsoft.com/office/drawing/2014/main" id="{3E6EFEC1-3795-0598-1B2F-68A877BC3F2B}"/>
                </a:ext>
              </a:extLst>
            </p:cNvPr>
            <p:cNvSpPr/>
            <p:nvPr/>
          </p:nvSpPr>
          <p:spPr>
            <a:xfrm>
              <a:off x="0" y="552065"/>
              <a:ext cx="12192000" cy="954001"/>
            </a:xfrm>
            <a:prstGeom prst="rect">
              <a:avLst/>
            </a:prstGeom>
            <a:solidFill>
              <a:srgbClr val="070D13">
                <a:alpha val="50196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 dirty="0">
                <a:latin typeface="Calibri Light" panose="020F0302020204030204" pitchFamily="34" charset="0"/>
              </a:endParaRPr>
            </a:p>
          </p:txBody>
        </p:sp>
        <p:sp>
          <p:nvSpPr>
            <p:cNvPr id="17" name="Naslov 1">
              <a:extLst>
                <a:ext uri="{FF2B5EF4-FFF2-40B4-BE49-F238E27FC236}">
                  <a16:creationId xmlns:a16="http://schemas.microsoft.com/office/drawing/2014/main" id="{A88302B1-95CE-1201-351F-D010BA2D7DEC}"/>
                </a:ext>
              </a:extLst>
            </p:cNvPr>
            <p:cNvSpPr txBox="1">
              <a:spLocks/>
            </p:cNvSpPr>
            <p:nvPr/>
          </p:nvSpPr>
          <p:spPr>
            <a:xfrm>
              <a:off x="838204" y="415540"/>
              <a:ext cx="10515600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22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sl-SI" sz="4000" b="1" dirty="0" err="1">
                  <a:solidFill>
                    <a:schemeClr val="bg1"/>
                  </a:solidFill>
                  <a:latin typeface="Calibri" panose="020F0502020204030204" pitchFamily="34" charset="0"/>
                </a:rPr>
                <a:t>Distributions</a:t>
              </a:r>
              <a:r>
                <a:rPr lang="sl-SI" sz="40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 </a:t>
              </a:r>
              <a:r>
                <a:rPr lang="sl-SI" sz="4000" b="1" dirty="0" err="1">
                  <a:solidFill>
                    <a:schemeClr val="bg1"/>
                  </a:solidFill>
                  <a:latin typeface="Calibri" panose="020F0502020204030204" pitchFamily="34" charset="0"/>
                </a:rPr>
                <a:t>after</a:t>
              </a:r>
              <a:r>
                <a:rPr lang="sl-SI" sz="40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 </a:t>
              </a:r>
              <a:r>
                <a:rPr lang="sl-SI" sz="4000" b="1" dirty="0" err="1">
                  <a:solidFill>
                    <a:schemeClr val="bg1"/>
                  </a:solidFill>
                  <a:latin typeface="Calibri" panose="020F0502020204030204" pitchFamily="34" charset="0"/>
                </a:rPr>
                <a:t>the</a:t>
              </a:r>
              <a:r>
                <a:rPr lang="sl-SI" sz="40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 </a:t>
              </a:r>
              <a:r>
                <a:rPr lang="sl-SI" sz="4000" b="1" dirty="0" err="1">
                  <a:solidFill>
                    <a:schemeClr val="bg1"/>
                  </a:solidFill>
                  <a:latin typeface="Calibri" panose="020F0502020204030204" pitchFamily="34" charset="0"/>
                </a:rPr>
                <a:t>cut</a:t>
              </a:r>
              <a:endParaRPr lang="sl-SI" sz="4000" b="1" dirty="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7BCA83D1-A488-7421-3F23-198996F43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CC6847FF-881C-63CA-D205-1F30D9757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17</a:t>
            </a:fld>
            <a:endParaRPr lang="sl-SI"/>
          </a:p>
        </p:txBody>
      </p:sp>
      <p:sp>
        <p:nvSpPr>
          <p:cNvPr id="20" name="PoljeZBesedilom 19">
            <a:extLst>
              <a:ext uri="{FF2B5EF4-FFF2-40B4-BE49-F238E27FC236}">
                <a16:creationId xmlns:a16="http://schemas.microsoft.com/office/drawing/2014/main" id="{7F71A7B5-64E1-9065-B45B-D905FC31BE73}"/>
              </a:ext>
            </a:extLst>
          </p:cNvPr>
          <p:cNvSpPr txBox="1"/>
          <p:nvPr/>
        </p:nvSpPr>
        <p:spPr>
          <a:xfrm>
            <a:off x="10694956" y="938999"/>
            <a:ext cx="856788" cy="3694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l-SI" sz="180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DDPM</a:t>
            </a:r>
          </a:p>
        </p:txBody>
      </p:sp>
      <p:sp>
        <p:nvSpPr>
          <p:cNvPr id="22" name="PoljeZBesedilom 21">
            <a:extLst>
              <a:ext uri="{FF2B5EF4-FFF2-40B4-BE49-F238E27FC236}">
                <a16:creationId xmlns:a16="http://schemas.microsoft.com/office/drawing/2014/main" id="{E45B3705-6039-4596-6865-445D6B36D8C9}"/>
              </a:ext>
            </a:extLst>
          </p:cNvPr>
          <p:cNvSpPr txBox="1"/>
          <p:nvPr/>
        </p:nvSpPr>
        <p:spPr>
          <a:xfrm>
            <a:off x="210447" y="1308459"/>
            <a:ext cx="1255497" cy="2031325"/>
          </a:xfrm>
          <a:prstGeom prst="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Distributions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after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the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cut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on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the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classifier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, at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score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of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0.55  + </a:t>
            </a:r>
          </a:p>
          <a:p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ratios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of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bkg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. ML/MC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densities</a:t>
            </a:r>
            <a:endParaRPr lang="sl-SI" sz="160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3" name="Slika 32" descr="Slika, ki vsebuje besede besedilo, vrstica, diagram, rokopis&#10;&#10;Vsebina, ustvarjena z UI, morda ni pravilna.">
            <a:extLst>
              <a:ext uri="{FF2B5EF4-FFF2-40B4-BE49-F238E27FC236}">
                <a16:creationId xmlns:a16="http://schemas.microsoft.com/office/drawing/2014/main" id="{1AA557EC-C9FA-1D39-7A74-8267795CF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137" y="1308459"/>
            <a:ext cx="9987607" cy="5017274"/>
          </a:xfrm>
          <a:prstGeom prst="rect">
            <a:avLst/>
          </a:prstGeom>
        </p:spPr>
      </p:pic>
      <p:grpSp>
        <p:nvGrpSpPr>
          <p:cNvPr id="29" name="Skupina 28">
            <a:extLst>
              <a:ext uri="{FF2B5EF4-FFF2-40B4-BE49-F238E27FC236}">
                <a16:creationId xmlns:a16="http://schemas.microsoft.com/office/drawing/2014/main" id="{53EA7623-A94B-C50F-6CA5-56795101D472}"/>
              </a:ext>
            </a:extLst>
          </p:cNvPr>
          <p:cNvGrpSpPr/>
          <p:nvPr/>
        </p:nvGrpSpPr>
        <p:grpSpPr>
          <a:xfrm>
            <a:off x="1564138" y="934403"/>
            <a:ext cx="9987606" cy="5391330"/>
            <a:chOff x="1589154" y="933155"/>
            <a:chExt cx="9987606" cy="5391330"/>
          </a:xfrm>
        </p:grpSpPr>
        <p:sp>
          <p:nvSpPr>
            <p:cNvPr id="19" name="PoljeZBesedilom 18">
              <a:extLst>
                <a:ext uri="{FF2B5EF4-FFF2-40B4-BE49-F238E27FC236}">
                  <a16:creationId xmlns:a16="http://schemas.microsoft.com/office/drawing/2014/main" id="{83F174CD-CF22-5AFD-9426-524ADBBD6304}"/>
                </a:ext>
              </a:extLst>
            </p:cNvPr>
            <p:cNvSpPr txBox="1"/>
            <p:nvPr/>
          </p:nvSpPr>
          <p:spPr>
            <a:xfrm>
              <a:off x="10719972" y="933155"/>
              <a:ext cx="856788" cy="36946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EDM</a:t>
              </a:r>
            </a:p>
          </p:txBody>
        </p:sp>
        <p:pic>
          <p:nvPicPr>
            <p:cNvPr id="28" name="Slika 27" descr="Slika, ki vsebuje besede besedilo, diagram, vrstica, rokopis&#10;&#10;Vsebina, ustvarjena z UI, morda ni pravilna.">
              <a:extLst>
                <a:ext uri="{FF2B5EF4-FFF2-40B4-BE49-F238E27FC236}">
                  <a16:creationId xmlns:a16="http://schemas.microsoft.com/office/drawing/2014/main" id="{9933F129-D047-F1EC-FA5F-B73A0CF91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89154" y="1307211"/>
              <a:ext cx="9987606" cy="5017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321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avokotnik 6">
            <a:extLst>
              <a:ext uri="{FF2B5EF4-FFF2-40B4-BE49-F238E27FC236}">
                <a16:creationId xmlns:a16="http://schemas.microsoft.com/office/drawing/2014/main" id="{44A94804-B874-1DA9-092D-B7634848F3C1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4B86C42-A050-897C-8F56-7466EFD07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</a:rPr>
              <a:t>Todo</a:t>
            </a:r>
            <a:r>
              <a:rPr lang="sl-SI" sz="4000" b="1" dirty="0">
                <a:solidFill>
                  <a:schemeClr val="bg1"/>
                </a:solidFill>
              </a:rPr>
              <a:t> list	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1C44781-6CD4-FB29-AD26-94D10876E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12267" cy="4351339"/>
          </a:xfrm>
        </p:spPr>
        <p:txBody>
          <a:bodyPr>
            <a:normAutofit/>
          </a:bodyPr>
          <a:lstStyle/>
          <a:p>
            <a:pPr marL="571515" indent="-571515">
              <a:buFont typeface="+mj-lt"/>
              <a:buAutoNum type="romanLcPeriod"/>
            </a:pPr>
            <a:r>
              <a:rPr lang="sl-SI" sz="2400" dirty="0">
                <a:solidFill>
                  <a:schemeClr val="bg1"/>
                </a:solidFill>
              </a:rPr>
              <a:t>EDM </a:t>
            </a:r>
            <a:r>
              <a:rPr lang="sl-SI" sz="2400" dirty="0" err="1">
                <a:solidFill>
                  <a:schemeClr val="bg1"/>
                </a:solidFill>
              </a:rPr>
              <a:t>framework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improvements</a:t>
            </a:r>
            <a:r>
              <a:rPr lang="sl-SI" sz="2400" dirty="0">
                <a:solidFill>
                  <a:schemeClr val="bg1"/>
                </a:solidFill>
              </a:rPr>
              <a:t>: </a:t>
            </a:r>
            <a:r>
              <a:rPr lang="sl-SI" sz="2400" dirty="0" err="1">
                <a:solidFill>
                  <a:schemeClr val="bg1"/>
                </a:solidFill>
              </a:rPr>
              <a:t>reweighing</a:t>
            </a:r>
            <a:r>
              <a:rPr lang="sl-SI" sz="2400" dirty="0">
                <a:solidFill>
                  <a:schemeClr val="bg1"/>
                </a:solidFill>
              </a:rPr>
              <a:t> data, </a:t>
            </a:r>
            <a:r>
              <a:rPr lang="sl-SI" sz="2400" dirty="0" err="1">
                <a:solidFill>
                  <a:schemeClr val="bg1"/>
                </a:solidFill>
              </a:rPr>
              <a:t>better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networks</a:t>
            </a:r>
            <a:r>
              <a:rPr lang="sl-SI" sz="2400" dirty="0">
                <a:solidFill>
                  <a:schemeClr val="bg1"/>
                </a:solidFill>
              </a:rPr>
              <a:t>?</a:t>
            </a:r>
          </a:p>
          <a:p>
            <a:pPr marL="571515" indent="-571515">
              <a:buFont typeface="+mj-lt"/>
              <a:buAutoNum type="romanLcPeriod"/>
            </a:pPr>
            <a:r>
              <a:rPr lang="sl-SI" sz="2400" dirty="0">
                <a:solidFill>
                  <a:schemeClr val="bg1"/>
                </a:solidFill>
              </a:rPr>
              <a:t>New </a:t>
            </a:r>
            <a:r>
              <a:rPr lang="sl-SI" sz="2400" dirty="0" err="1">
                <a:solidFill>
                  <a:schemeClr val="bg1"/>
                </a:solidFill>
              </a:rPr>
              <a:t>architectures</a:t>
            </a:r>
            <a:r>
              <a:rPr lang="sl-SI" sz="2400" dirty="0">
                <a:solidFill>
                  <a:schemeClr val="bg1"/>
                </a:solidFill>
              </a:rPr>
              <a:t> → </a:t>
            </a:r>
            <a:r>
              <a:rPr lang="sl-SI" sz="2400" dirty="0" err="1">
                <a:solidFill>
                  <a:schemeClr val="bg1"/>
                </a:solidFill>
              </a:rPr>
              <a:t>small</a:t>
            </a:r>
            <a:r>
              <a:rPr lang="sl-SI" sz="2400" dirty="0">
                <a:solidFill>
                  <a:schemeClr val="bg1"/>
                </a:solidFill>
              </a:rPr>
              <a:t> data dim. = </a:t>
            </a:r>
            <a:r>
              <a:rPr lang="sl-SI" sz="2400" dirty="0" err="1">
                <a:solidFill>
                  <a:schemeClr val="bg1"/>
                </a:solidFill>
              </a:rPr>
              <a:t>problems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with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conv</a:t>
            </a:r>
            <a:r>
              <a:rPr lang="sl-SI" sz="2400" dirty="0">
                <a:solidFill>
                  <a:schemeClr val="bg1"/>
                </a:solidFill>
              </a:rPr>
              <a:t>. </a:t>
            </a:r>
            <a:r>
              <a:rPr lang="sl-SI" sz="2400" dirty="0" err="1">
                <a:solidFill>
                  <a:schemeClr val="bg1"/>
                </a:solidFill>
              </a:rPr>
              <a:t>networks</a:t>
            </a:r>
            <a:endParaRPr lang="sl-SI" sz="2400" dirty="0">
              <a:solidFill>
                <a:schemeClr val="bg1"/>
              </a:solidFill>
            </a:endParaRPr>
          </a:p>
          <a:p>
            <a:pPr marL="571515" indent="-571515">
              <a:buFont typeface="+mj-lt"/>
              <a:buAutoNum type="romanLcPeriod"/>
            </a:pPr>
            <a:r>
              <a:rPr lang="sl-SI" sz="2400" dirty="0" err="1">
                <a:solidFill>
                  <a:schemeClr val="bg1"/>
                </a:solidFill>
              </a:rPr>
              <a:t>Consistency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models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for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fast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sampling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</a:p>
          <a:p>
            <a:pPr marL="571515" indent="-571515">
              <a:buFont typeface="+mj-lt"/>
              <a:buAutoNum type="romanLcPeriod"/>
            </a:pPr>
            <a:r>
              <a:rPr lang="sl-SI" sz="2400" dirty="0" err="1">
                <a:solidFill>
                  <a:schemeClr val="bg1"/>
                </a:solidFill>
              </a:rPr>
              <a:t>Training</a:t>
            </a:r>
            <a:r>
              <a:rPr lang="sl-SI" sz="2400" dirty="0">
                <a:solidFill>
                  <a:schemeClr val="bg1"/>
                </a:solidFill>
              </a:rPr>
              <a:t> parameter </a:t>
            </a:r>
            <a:r>
              <a:rPr lang="sl-SI" sz="2400" dirty="0" err="1">
                <a:solidFill>
                  <a:schemeClr val="bg1"/>
                </a:solidFill>
              </a:rPr>
              <a:t>and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sampling</a:t>
            </a:r>
            <a:r>
              <a:rPr lang="sl-SI" sz="2400" dirty="0">
                <a:solidFill>
                  <a:schemeClr val="bg1"/>
                </a:solidFill>
              </a:rPr>
              <a:t> ODE </a:t>
            </a:r>
            <a:r>
              <a:rPr lang="sl-SI" sz="2400" dirty="0" err="1">
                <a:solidFill>
                  <a:schemeClr val="bg1"/>
                </a:solidFill>
              </a:rPr>
              <a:t>solver</a:t>
            </a:r>
            <a:r>
              <a:rPr lang="sl-SI" sz="2400" dirty="0">
                <a:solidFill>
                  <a:schemeClr val="bg1"/>
                </a:solidFill>
              </a:rPr>
              <a:t> parameter </a:t>
            </a:r>
            <a:r>
              <a:rPr lang="sl-SI" sz="2400" dirty="0" err="1">
                <a:solidFill>
                  <a:schemeClr val="bg1"/>
                </a:solidFill>
              </a:rPr>
              <a:t>optimization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</a:p>
          <a:p>
            <a:pPr marL="571515" indent="-571515">
              <a:buFont typeface="+mj-lt"/>
              <a:buAutoNum type="romanLcPeriod"/>
            </a:pPr>
            <a:r>
              <a:rPr lang="sl-SI" sz="2400" dirty="0" err="1">
                <a:solidFill>
                  <a:schemeClr val="bg1"/>
                </a:solidFill>
              </a:rPr>
              <a:t>Power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function</a:t>
            </a:r>
            <a:r>
              <a:rPr lang="sl-SI" sz="2400" dirty="0">
                <a:solidFill>
                  <a:schemeClr val="bg1"/>
                </a:solidFill>
              </a:rPr>
              <a:t> EMA parameter </a:t>
            </a:r>
            <a:r>
              <a:rPr lang="sl-SI" sz="2400" dirty="0" err="1">
                <a:solidFill>
                  <a:schemeClr val="bg1"/>
                </a:solidFill>
              </a:rPr>
              <a:t>optimization</a:t>
            </a:r>
            <a:r>
              <a:rPr lang="sl-SI" sz="2400" dirty="0">
                <a:solidFill>
                  <a:schemeClr val="bg1"/>
                </a:solidFill>
              </a:rPr>
              <a:t>/</a:t>
            </a:r>
            <a:r>
              <a:rPr lang="sl-SI" sz="2400" dirty="0" err="1">
                <a:solidFill>
                  <a:schemeClr val="bg1"/>
                </a:solidFill>
              </a:rPr>
              <a:t>quality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quantification</a:t>
            </a:r>
            <a:endParaRPr lang="sl-SI" sz="2400" dirty="0">
              <a:solidFill>
                <a:schemeClr val="bg1"/>
              </a:solidFill>
            </a:endParaRPr>
          </a:p>
          <a:p>
            <a:pPr marL="571515" indent="-571515">
              <a:buFont typeface="+mj-lt"/>
              <a:buAutoNum type="romanLcPeriod"/>
            </a:pPr>
            <a:r>
              <a:rPr lang="sl-SI" sz="2400" b="1" dirty="0" err="1">
                <a:solidFill>
                  <a:schemeClr val="bg1"/>
                </a:solidFill>
                <a:hlinkClick r:id="rId2"/>
              </a:rPr>
              <a:t>Autoguidance</a:t>
            </a:r>
            <a:r>
              <a:rPr lang="sl-SI" sz="2400" b="1" dirty="0">
                <a:solidFill>
                  <a:schemeClr val="bg1"/>
                </a:solidFill>
                <a:hlinkClick r:id="rId2"/>
              </a:rPr>
              <a:t>? </a:t>
            </a:r>
            <a:endParaRPr lang="sl-SI" sz="2400" b="1" dirty="0">
              <a:solidFill>
                <a:schemeClr val="bg1"/>
              </a:solidFill>
            </a:endParaRPr>
          </a:p>
          <a:p>
            <a:pPr marL="571515" indent="-571515">
              <a:buFont typeface="+mj-lt"/>
              <a:buAutoNum type="romanLcPeriod"/>
            </a:pPr>
            <a:r>
              <a:rPr lang="sl-SI" sz="2400" dirty="0" err="1">
                <a:solidFill>
                  <a:schemeClr val="bg1"/>
                </a:solidFill>
              </a:rPr>
              <a:t>Better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preconditioning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for</a:t>
            </a:r>
            <a:r>
              <a:rPr lang="sl-SI" sz="2400" dirty="0">
                <a:solidFill>
                  <a:schemeClr val="bg1"/>
                </a:solidFill>
              </a:rPr>
              <a:t> DDPM</a:t>
            </a: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A4182A37-B35E-D34B-F244-204BDAB8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EFA64D5B-BFF9-180C-A0E6-4CD978898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18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091004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7BA1A-449A-8B9A-47BD-16521E1DF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avokotnik 6">
            <a:extLst>
              <a:ext uri="{FF2B5EF4-FFF2-40B4-BE49-F238E27FC236}">
                <a16:creationId xmlns:a16="http://schemas.microsoft.com/office/drawing/2014/main" id="{F742F261-DB72-33D5-B1E0-9F4EDFDDE97F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7201C883-5CE2-FFB4-C991-83FF49EF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</a:rPr>
              <a:t>Conclusions</a:t>
            </a:r>
            <a:r>
              <a:rPr lang="sl-SI" sz="4000" b="1" dirty="0">
                <a:solidFill>
                  <a:schemeClr val="bg1"/>
                </a:solidFill>
              </a:rPr>
              <a:t>	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7F33F838-D966-3333-BE2C-19F30DCA2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12267" cy="4351339"/>
          </a:xfrm>
        </p:spPr>
        <p:txBody>
          <a:bodyPr>
            <a:normAutofit/>
          </a:bodyPr>
          <a:lstStyle/>
          <a:p>
            <a:r>
              <a:rPr lang="sl-SI" sz="2400" dirty="0" err="1">
                <a:solidFill>
                  <a:schemeClr val="bg1"/>
                </a:solidFill>
              </a:rPr>
              <a:t>Promising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frameworks</a:t>
            </a:r>
            <a:r>
              <a:rPr lang="sl-SI" sz="2400" dirty="0">
                <a:solidFill>
                  <a:schemeClr val="bg1"/>
                </a:solidFill>
              </a:rPr>
              <a:t>: standard </a:t>
            </a:r>
            <a:r>
              <a:rPr lang="sl-SI" sz="2400" dirty="0" err="1">
                <a:solidFill>
                  <a:schemeClr val="bg1"/>
                </a:solidFill>
              </a:rPr>
              <a:t>stohastic</a:t>
            </a:r>
            <a:r>
              <a:rPr lang="sl-SI" sz="2400" dirty="0">
                <a:solidFill>
                  <a:schemeClr val="bg1"/>
                </a:solidFill>
              </a:rPr>
              <a:t> DDPM, EDM </a:t>
            </a:r>
            <a:r>
              <a:rPr lang="sl-SI" sz="2400" dirty="0" err="1">
                <a:solidFill>
                  <a:schemeClr val="bg1"/>
                </a:solidFill>
              </a:rPr>
              <a:t>framework</a:t>
            </a:r>
            <a:r>
              <a:rPr lang="sl-SI" sz="2400" dirty="0">
                <a:solidFill>
                  <a:schemeClr val="bg1"/>
                </a:solidFill>
              </a:rPr>
              <a:t>?</a:t>
            </a:r>
          </a:p>
          <a:p>
            <a:r>
              <a:rPr lang="sl-SI" sz="2400" dirty="0" err="1">
                <a:solidFill>
                  <a:schemeClr val="bg1"/>
                </a:solidFill>
              </a:rPr>
              <a:t>Score</a:t>
            </a:r>
            <a:r>
              <a:rPr lang="sl-SI" sz="2400" dirty="0">
                <a:solidFill>
                  <a:schemeClr val="bg1"/>
                </a:solidFill>
              </a:rPr>
              <a:t>/SDE </a:t>
            </a:r>
            <a:r>
              <a:rPr lang="sl-SI" sz="2400" dirty="0" err="1">
                <a:solidFill>
                  <a:schemeClr val="bg1"/>
                </a:solidFill>
              </a:rPr>
              <a:t>networks</a:t>
            </a:r>
            <a:r>
              <a:rPr lang="sl-SI" sz="2400" dirty="0">
                <a:solidFill>
                  <a:schemeClr val="bg1"/>
                </a:solidFill>
              </a:rPr>
              <a:t>: ODE </a:t>
            </a:r>
            <a:r>
              <a:rPr lang="sl-SI" sz="2400" dirty="0" err="1">
                <a:solidFill>
                  <a:schemeClr val="bg1"/>
                </a:solidFill>
              </a:rPr>
              <a:t>sampling</a:t>
            </a:r>
            <a:r>
              <a:rPr lang="sl-SI" sz="2400" dirty="0">
                <a:solidFill>
                  <a:schemeClr val="bg1"/>
                </a:solidFill>
              </a:rPr>
              <a:t> = </a:t>
            </a:r>
            <a:r>
              <a:rPr lang="sl-SI" sz="2400" dirty="0" err="1">
                <a:solidFill>
                  <a:schemeClr val="bg1"/>
                </a:solidFill>
              </a:rPr>
              <a:t>less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steps</a:t>
            </a:r>
            <a:r>
              <a:rPr lang="sl-SI" sz="2400" dirty="0">
                <a:solidFill>
                  <a:schemeClr val="bg1"/>
                </a:solidFill>
              </a:rPr>
              <a:t>, </a:t>
            </a:r>
            <a:r>
              <a:rPr lang="sl-SI" sz="2400" dirty="0" err="1">
                <a:solidFill>
                  <a:schemeClr val="bg1"/>
                </a:solidFill>
              </a:rPr>
              <a:t>faster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but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lowers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samples</a:t>
            </a:r>
            <a:r>
              <a:rPr lang="sl-SI" sz="2400" dirty="0">
                <a:solidFill>
                  <a:schemeClr val="bg1"/>
                </a:solidFill>
              </a:rPr>
              <a:t>‘ variance / </a:t>
            </a:r>
            <a:r>
              <a:rPr lang="sl-SI" sz="2400" dirty="0" err="1">
                <a:solidFill>
                  <a:schemeClr val="bg1"/>
                </a:solidFill>
              </a:rPr>
              <a:t>quality</a:t>
            </a:r>
            <a:endParaRPr lang="sl-SI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sl-SI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sl-SI" sz="2400" dirty="0">
              <a:solidFill>
                <a:schemeClr val="bg1"/>
              </a:solidFill>
            </a:endParaRP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9E81DCEC-1AD4-8A72-5CBB-BC0F2FF42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7E2C2BF7-64FB-BEC1-05DE-72FBDD11A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19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231830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91B9EDAE-7B30-98E9-6EFB-C006090E1CA3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297490C8-7BD3-2CAF-CC91-F3E9F48FC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</a:rPr>
              <a:t>Supplementary</a:t>
            </a:r>
            <a:r>
              <a:rPr lang="sl-SI" sz="4000" b="1" dirty="0">
                <a:solidFill>
                  <a:schemeClr val="bg1"/>
                </a:solidFill>
              </a:rPr>
              <a:t> </a:t>
            </a:r>
            <a:r>
              <a:rPr lang="sl-SI" sz="4000" b="1" dirty="0" err="1">
                <a:solidFill>
                  <a:schemeClr val="bg1"/>
                </a:solidFill>
              </a:rPr>
              <a:t>info</a:t>
            </a:r>
            <a:endParaRPr lang="sl-SI" sz="4000" b="1" dirty="0">
              <a:solidFill>
                <a:schemeClr val="bg1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23561C3-0843-B832-8347-271B059C9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948" y="1592176"/>
            <a:ext cx="10515600" cy="4351338"/>
          </a:xfrm>
        </p:spPr>
        <p:txBody>
          <a:bodyPr>
            <a:normAutofit/>
          </a:bodyPr>
          <a:lstStyle/>
          <a:p>
            <a:r>
              <a:rPr lang="sl-SI" sz="1800" dirty="0">
                <a:solidFill>
                  <a:schemeClr val="bg1"/>
                </a:solidFill>
              </a:rPr>
              <a:t>Before </a:t>
            </a:r>
            <a:r>
              <a:rPr lang="sl-SI" sz="1800" dirty="0" err="1">
                <a:solidFill>
                  <a:schemeClr val="bg1"/>
                </a:solidFill>
              </a:rPr>
              <a:t>training</a:t>
            </a:r>
            <a:r>
              <a:rPr lang="sl-SI" sz="1800" dirty="0">
                <a:solidFill>
                  <a:schemeClr val="bg1"/>
                </a:solidFill>
              </a:rPr>
              <a:t> </a:t>
            </a:r>
            <a:r>
              <a:rPr lang="sl-SI" sz="1800" dirty="0" err="1">
                <a:solidFill>
                  <a:schemeClr val="bg1"/>
                </a:solidFill>
              </a:rPr>
              <a:t>the</a:t>
            </a:r>
            <a:r>
              <a:rPr lang="sl-SI" sz="1800" dirty="0">
                <a:solidFill>
                  <a:schemeClr val="bg1"/>
                </a:solidFill>
              </a:rPr>
              <a:t> data is </a:t>
            </a:r>
            <a:r>
              <a:rPr lang="sl-SI" sz="1800" dirty="0" err="1">
                <a:solidFill>
                  <a:schemeClr val="bg1"/>
                </a:solidFill>
              </a:rPr>
              <a:t>transformed</a:t>
            </a:r>
            <a:r>
              <a:rPr lang="sl-SI" sz="1800" dirty="0">
                <a:solidFill>
                  <a:schemeClr val="bg1"/>
                </a:solidFill>
              </a:rPr>
              <a:t> </a:t>
            </a:r>
            <a:r>
              <a:rPr lang="sl-SI" sz="1800" dirty="0" err="1">
                <a:solidFill>
                  <a:schemeClr val="bg1"/>
                </a:solidFill>
              </a:rPr>
              <a:t>using</a:t>
            </a:r>
            <a:r>
              <a:rPr lang="sl-SI" sz="1800" dirty="0">
                <a:solidFill>
                  <a:schemeClr val="bg1"/>
                </a:solidFill>
              </a:rPr>
              <a:t> </a:t>
            </a:r>
            <a:r>
              <a:rPr lang="sl-SI" sz="1800" dirty="0" err="1">
                <a:solidFill>
                  <a:schemeClr val="bg1"/>
                </a:solidFill>
              </a:rPr>
              <a:t>the</a:t>
            </a:r>
            <a:r>
              <a:rPr lang="sl-SI" sz="1800" dirty="0">
                <a:solidFill>
                  <a:schemeClr val="bg1"/>
                </a:solidFill>
              </a:rPr>
              <a:t> </a:t>
            </a:r>
            <a:r>
              <a:rPr lang="sl-SI" sz="1800" b="1" dirty="0" err="1">
                <a:solidFill>
                  <a:schemeClr val="bg1"/>
                </a:solidFill>
              </a:rPr>
              <a:t>Rank</a:t>
            </a:r>
            <a:r>
              <a:rPr lang="sl-SI" sz="1800" b="1" dirty="0">
                <a:solidFill>
                  <a:schemeClr val="bg1"/>
                </a:solidFill>
              </a:rPr>
              <a:t> → </a:t>
            </a:r>
            <a:r>
              <a:rPr lang="sl-SI" sz="1800" b="1" dirty="0" err="1">
                <a:solidFill>
                  <a:schemeClr val="bg1"/>
                </a:solidFill>
              </a:rPr>
              <a:t>Gaussian</a:t>
            </a:r>
            <a:r>
              <a:rPr lang="sl-SI" sz="1800" b="1" dirty="0">
                <a:solidFill>
                  <a:schemeClr val="bg1"/>
                </a:solidFill>
              </a:rPr>
              <a:t> </a:t>
            </a:r>
            <a:r>
              <a:rPr lang="sl-SI" sz="1800" b="1" dirty="0" err="1">
                <a:solidFill>
                  <a:schemeClr val="bg1"/>
                </a:solidFill>
              </a:rPr>
              <a:t>scaler</a:t>
            </a:r>
            <a:endParaRPr lang="sl-SI" sz="1800" b="1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sl-SI" sz="1800" dirty="0">
                <a:solidFill>
                  <a:schemeClr val="bg1"/>
                </a:solidFill>
              </a:rPr>
              <a:t>Rank </a:t>
            </a:r>
            <a:r>
              <a:rPr lang="sl-SI" sz="1800" dirty="0" err="1">
                <a:solidFill>
                  <a:schemeClr val="bg1"/>
                </a:solidFill>
              </a:rPr>
              <a:t>transform</a:t>
            </a:r>
            <a:r>
              <a:rPr lang="sl-SI" sz="1800" dirty="0">
                <a:solidFill>
                  <a:schemeClr val="bg1"/>
                </a:solidFill>
              </a:rPr>
              <a:t> ~ ECDF/data sort </a:t>
            </a:r>
            <a:r>
              <a:rPr lang="sl-SI" sz="1800" dirty="0" err="1">
                <a:solidFill>
                  <a:schemeClr val="bg1"/>
                </a:solidFill>
              </a:rPr>
              <a:t>and</a:t>
            </a:r>
            <a:r>
              <a:rPr lang="sl-SI" sz="1800" dirty="0">
                <a:solidFill>
                  <a:schemeClr val="bg1"/>
                </a:solidFill>
              </a:rPr>
              <a:t> scale </a:t>
            </a:r>
            <a:r>
              <a:rPr lang="sl-SI" sz="1800" dirty="0" err="1">
                <a:solidFill>
                  <a:schemeClr val="bg1"/>
                </a:solidFill>
              </a:rPr>
              <a:t>from</a:t>
            </a:r>
            <a:r>
              <a:rPr lang="sl-SI" sz="1800" dirty="0">
                <a:solidFill>
                  <a:schemeClr val="bg1"/>
                </a:solidFill>
              </a:rPr>
              <a:t> -1 to 1</a:t>
            </a:r>
          </a:p>
          <a:p>
            <a:pPr marL="514350" indent="-514350">
              <a:buFont typeface="+mj-lt"/>
              <a:buAutoNum type="arabicPeriod"/>
            </a:pPr>
            <a:r>
              <a:rPr lang="sl-SI" sz="1800" dirty="0" err="1">
                <a:solidFill>
                  <a:schemeClr val="bg1"/>
                </a:solidFill>
              </a:rPr>
              <a:t>Apply</a:t>
            </a:r>
            <a:r>
              <a:rPr lang="sl-SI" sz="1800" dirty="0">
                <a:solidFill>
                  <a:schemeClr val="bg1"/>
                </a:solidFill>
              </a:rPr>
              <a:t> </a:t>
            </a:r>
            <a:r>
              <a:rPr lang="sl-SI" sz="1800" i="1" dirty="0" err="1">
                <a:solidFill>
                  <a:schemeClr val="bg1"/>
                </a:solidFill>
              </a:rPr>
              <a:t>invErf</a:t>
            </a:r>
            <a:r>
              <a:rPr lang="sl-SI" sz="1800" dirty="0">
                <a:solidFill>
                  <a:schemeClr val="bg1"/>
                </a:solidFill>
              </a:rPr>
              <a:t>(</a:t>
            </a:r>
            <a:r>
              <a:rPr lang="sl-SI" sz="1800" dirty="0" err="1">
                <a:solidFill>
                  <a:schemeClr val="bg1"/>
                </a:solidFill>
              </a:rPr>
              <a:t>scaled</a:t>
            </a:r>
            <a:r>
              <a:rPr lang="sl-SI" sz="1800" dirty="0">
                <a:solidFill>
                  <a:schemeClr val="bg1"/>
                </a:solidFill>
              </a:rPr>
              <a:t> data) to </a:t>
            </a:r>
            <a:r>
              <a:rPr lang="sl-SI" sz="1800" dirty="0" err="1">
                <a:solidFill>
                  <a:schemeClr val="bg1"/>
                </a:solidFill>
              </a:rPr>
              <a:t>get</a:t>
            </a:r>
            <a:r>
              <a:rPr lang="sl-SI" sz="1800" dirty="0">
                <a:solidFill>
                  <a:schemeClr val="bg1"/>
                </a:solidFill>
              </a:rPr>
              <a:t> a normal </a:t>
            </a:r>
            <a:r>
              <a:rPr lang="sl-SI" sz="1800" dirty="0" err="1">
                <a:solidFill>
                  <a:schemeClr val="bg1"/>
                </a:solidFill>
              </a:rPr>
              <a:t>distribution</a:t>
            </a:r>
            <a:endParaRPr lang="sl-SI" sz="1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54506582-9A0F-7CDF-B3A4-0CA09DE8B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F55B530E-82FC-78D4-2382-7CD9C8E68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20</a:t>
            </a:fld>
            <a:endParaRPr lang="sl-SI"/>
          </a:p>
        </p:txBody>
      </p:sp>
      <p:pic>
        <p:nvPicPr>
          <p:cNvPr id="8" name="Slika 7" descr="Slika, ki vsebuje besede diagram, vrstica, origami&#10;&#10;Vsebina, ustvarjena z UI, morda ni pravilna.">
            <a:extLst>
              <a:ext uri="{FF2B5EF4-FFF2-40B4-BE49-F238E27FC236}">
                <a16:creationId xmlns:a16="http://schemas.microsoft.com/office/drawing/2014/main" id="{F2EF8309-C146-776A-C8EE-43A596477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48" y="2734655"/>
            <a:ext cx="10380853" cy="3892820"/>
          </a:xfrm>
          <a:prstGeom prst="rect">
            <a:avLst/>
          </a:prstGeom>
        </p:spPr>
      </p:pic>
      <p:sp>
        <p:nvSpPr>
          <p:cNvPr id="7" name="PoljeZBesedilom 6">
            <a:extLst>
              <a:ext uri="{FF2B5EF4-FFF2-40B4-BE49-F238E27FC236}">
                <a16:creationId xmlns:a16="http://schemas.microsoft.com/office/drawing/2014/main" id="{9B8E9ED9-B9C0-DAF4-870B-F9DBD8D92F9E}"/>
              </a:ext>
            </a:extLst>
          </p:cNvPr>
          <p:cNvSpPr txBox="1"/>
          <p:nvPr/>
        </p:nvSpPr>
        <p:spPr>
          <a:xfrm>
            <a:off x="8451081" y="1995991"/>
            <a:ext cx="2902720" cy="738664"/>
          </a:xfrm>
          <a:prstGeom prst="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Data,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transfromed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data, normal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distribution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(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black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)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and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inverse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transform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sanity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checks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.</a:t>
            </a:r>
            <a:endParaRPr lang="sl-SI" sz="160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4934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5AE2F29F-E3F7-DFE4-6F6B-E54DBB38C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sz="2400" dirty="0" err="1">
                <a:solidFill>
                  <a:schemeClr val="bg1"/>
                </a:solidFill>
              </a:rPr>
              <a:t>For</a:t>
            </a:r>
            <a:r>
              <a:rPr lang="sl-SI" sz="2400" dirty="0">
                <a:solidFill>
                  <a:schemeClr val="bg1"/>
                </a:solidFill>
              </a:rPr>
              <a:t> most </a:t>
            </a:r>
            <a:r>
              <a:rPr lang="sl-SI" sz="2400" dirty="0" err="1">
                <a:solidFill>
                  <a:schemeClr val="bg1"/>
                </a:solidFill>
              </a:rPr>
              <a:t>models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an</a:t>
            </a:r>
            <a:r>
              <a:rPr lang="sl-SI" sz="2400" dirty="0">
                <a:solidFill>
                  <a:schemeClr val="bg1"/>
                </a:solidFill>
              </a:rPr>
              <a:t> MLP U-net </a:t>
            </a:r>
            <a:r>
              <a:rPr lang="sl-SI" sz="2400" dirty="0" err="1">
                <a:solidFill>
                  <a:schemeClr val="bg1"/>
                </a:solidFill>
              </a:rPr>
              <a:t>was</a:t>
            </a:r>
            <a:r>
              <a:rPr lang="sl-SI" sz="2400" dirty="0">
                <a:solidFill>
                  <a:schemeClr val="bg1"/>
                </a:solidFill>
              </a:rPr>
              <a:t> used </a:t>
            </a:r>
          </a:p>
          <a:p>
            <a:r>
              <a:rPr lang="sl-SI" sz="2400" dirty="0" err="1">
                <a:solidFill>
                  <a:schemeClr val="bg1"/>
                </a:solidFill>
              </a:rPr>
              <a:t>Convolutional</a:t>
            </a:r>
            <a:r>
              <a:rPr lang="sl-SI" sz="2400" dirty="0">
                <a:solidFill>
                  <a:schemeClr val="bg1"/>
                </a:solidFill>
              </a:rPr>
              <a:t> U-</a:t>
            </a:r>
            <a:r>
              <a:rPr lang="sl-SI" sz="2400" dirty="0" err="1">
                <a:solidFill>
                  <a:schemeClr val="bg1"/>
                </a:solidFill>
              </a:rPr>
              <a:t>nets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have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prolems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with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small</a:t>
            </a:r>
            <a:r>
              <a:rPr lang="sl-SI" sz="2400" dirty="0">
                <a:solidFill>
                  <a:schemeClr val="bg1"/>
                </a:solidFill>
              </a:rPr>
              <a:t> data </a:t>
            </a:r>
            <a:r>
              <a:rPr lang="sl-SI" sz="2400" dirty="0" err="1">
                <a:solidFill>
                  <a:schemeClr val="bg1"/>
                </a:solidFill>
              </a:rPr>
              <a:t>dimesnionality</a:t>
            </a:r>
            <a:r>
              <a:rPr lang="sl-SI" sz="2400" dirty="0">
                <a:solidFill>
                  <a:schemeClr val="bg1"/>
                </a:solidFill>
              </a:rPr>
              <a:t>, </a:t>
            </a:r>
            <a:r>
              <a:rPr lang="sl-SI" sz="2400" dirty="0" err="1">
                <a:solidFill>
                  <a:schemeClr val="bg1"/>
                </a:solidFill>
              </a:rPr>
              <a:t>learning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slower</a:t>
            </a:r>
            <a:r>
              <a:rPr lang="sl-SI" sz="2400" dirty="0">
                <a:solidFill>
                  <a:schemeClr val="bg1"/>
                </a:solidFill>
              </a:rPr>
              <a:t> in most </a:t>
            </a:r>
            <a:r>
              <a:rPr lang="sl-SI" sz="2400" dirty="0" err="1">
                <a:solidFill>
                  <a:schemeClr val="bg1"/>
                </a:solidFill>
              </a:rPr>
              <a:t>cases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and</a:t>
            </a:r>
            <a:r>
              <a:rPr lang="sl-SI" sz="2400" dirty="0">
                <a:solidFill>
                  <a:schemeClr val="bg1"/>
                </a:solidFill>
              </a:rPr>
              <a:t> not as </a:t>
            </a:r>
            <a:r>
              <a:rPr lang="sl-SI" sz="2400" dirty="0" err="1">
                <a:solidFill>
                  <a:schemeClr val="bg1"/>
                </a:solidFill>
              </a:rPr>
              <a:t>successful</a:t>
            </a:r>
            <a:endParaRPr lang="sl-SI" sz="2400" dirty="0">
              <a:solidFill>
                <a:schemeClr val="bg1"/>
              </a:solidFill>
            </a:endParaRPr>
          </a:p>
          <a:p>
            <a:r>
              <a:rPr lang="sl-SI" sz="2400" dirty="0">
                <a:solidFill>
                  <a:schemeClr val="bg1"/>
                </a:solidFill>
              </a:rPr>
              <a:t>Standard </a:t>
            </a:r>
            <a:r>
              <a:rPr lang="sl-SI" sz="2400" dirty="0" err="1">
                <a:solidFill>
                  <a:schemeClr val="bg1"/>
                </a:solidFill>
              </a:rPr>
              <a:t>sinusoidal</a:t>
            </a:r>
            <a:r>
              <a:rPr lang="sl-SI" sz="2400" dirty="0">
                <a:solidFill>
                  <a:schemeClr val="bg1"/>
                </a:solidFill>
              </a:rPr>
              <a:t> time </a:t>
            </a:r>
            <a:r>
              <a:rPr lang="sl-SI" sz="2400" dirty="0" err="1">
                <a:solidFill>
                  <a:schemeClr val="bg1"/>
                </a:solidFill>
              </a:rPr>
              <a:t>embedding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</a:p>
          <a:p>
            <a:endParaRPr lang="sl-SI" sz="2400" dirty="0">
              <a:solidFill>
                <a:schemeClr val="bg1"/>
              </a:solidFill>
            </a:endParaRPr>
          </a:p>
          <a:p>
            <a:r>
              <a:rPr lang="sl-SI" sz="2400" dirty="0" err="1">
                <a:solidFill>
                  <a:schemeClr val="bg1"/>
                </a:solidFill>
              </a:rPr>
              <a:t>Weights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saved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using</a:t>
            </a:r>
            <a:r>
              <a:rPr lang="sl-SI" sz="2400" dirty="0">
                <a:solidFill>
                  <a:schemeClr val="bg1"/>
                </a:solidFill>
              </a:rPr>
              <a:t> a (</a:t>
            </a:r>
            <a:r>
              <a:rPr lang="sl-SI" sz="2400" dirty="0" err="1">
                <a:solidFill>
                  <a:schemeClr val="bg1"/>
                </a:solidFill>
              </a:rPr>
              <a:t>power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funftion</a:t>
            </a:r>
            <a:r>
              <a:rPr lang="sl-SI" sz="2400" dirty="0">
                <a:solidFill>
                  <a:schemeClr val="bg1"/>
                </a:solidFill>
              </a:rPr>
              <a:t>) </a:t>
            </a:r>
            <a:r>
              <a:rPr lang="sl-SI" sz="2400" dirty="0" err="1">
                <a:solidFill>
                  <a:schemeClr val="bg1"/>
                </a:solidFill>
              </a:rPr>
              <a:t>exponential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moving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average</a:t>
            </a:r>
            <a:r>
              <a:rPr lang="sl-SI" sz="2400" dirty="0">
                <a:solidFill>
                  <a:schemeClr val="bg1"/>
                </a:solidFill>
              </a:rPr>
              <a:t> (</a:t>
            </a:r>
            <a:r>
              <a:rPr lang="sl-SI" sz="2400" dirty="0" err="1">
                <a:solidFill>
                  <a:schemeClr val="bg1"/>
                </a:solidFill>
              </a:rPr>
              <a:t>pfEMA</a:t>
            </a:r>
            <a:r>
              <a:rPr lang="sl-SI" sz="2400" dirty="0">
                <a:solidFill>
                  <a:schemeClr val="bg1"/>
                </a:solidFill>
              </a:rPr>
              <a:t>): </a:t>
            </a:r>
            <a:r>
              <a:rPr lang="sl-SI" sz="2400" dirty="0" err="1">
                <a:solidFill>
                  <a:schemeClr val="bg1"/>
                </a:solidFill>
              </a:rPr>
              <a:t>see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  <a:hlinkClick r:id="rId2"/>
              </a:rPr>
              <a:t>Karras</a:t>
            </a:r>
            <a:r>
              <a:rPr lang="sl-SI" sz="2400" dirty="0">
                <a:solidFill>
                  <a:schemeClr val="bg1"/>
                </a:solidFill>
                <a:hlinkClick r:id="rId2"/>
              </a:rPr>
              <a:t> EDM2 </a:t>
            </a:r>
            <a:r>
              <a:rPr lang="sl-SI" sz="2400" dirty="0" err="1">
                <a:solidFill>
                  <a:schemeClr val="bg1"/>
                </a:solidFill>
                <a:hlinkClick r:id="rId2"/>
              </a:rPr>
              <a:t>paper</a:t>
            </a:r>
            <a:r>
              <a:rPr lang="sl-SI" sz="2400" dirty="0">
                <a:solidFill>
                  <a:schemeClr val="bg1"/>
                </a:solidFill>
                <a:hlinkClick r:id="rId2"/>
              </a:rPr>
              <a:t>, </a:t>
            </a:r>
            <a:r>
              <a:rPr lang="sl-SI" sz="2400" dirty="0" err="1">
                <a:solidFill>
                  <a:schemeClr val="bg1"/>
                </a:solidFill>
                <a:hlinkClick r:id="rId2"/>
              </a:rPr>
              <a:t>pg</a:t>
            </a:r>
            <a:r>
              <a:rPr lang="sl-SI" sz="2400" dirty="0">
                <a:solidFill>
                  <a:schemeClr val="bg1"/>
                </a:solidFill>
                <a:hlinkClick r:id="rId2"/>
              </a:rPr>
              <a:t>. 5 </a:t>
            </a:r>
            <a:r>
              <a:rPr lang="sl-SI" sz="2400" dirty="0" err="1">
                <a:solidFill>
                  <a:schemeClr val="bg1"/>
                </a:solidFill>
                <a:hlinkClick r:id="rId2"/>
              </a:rPr>
              <a:t>for</a:t>
            </a:r>
            <a:r>
              <a:rPr lang="sl-SI" sz="2400" dirty="0">
                <a:solidFill>
                  <a:schemeClr val="bg1"/>
                </a:solidFill>
                <a:hlinkClick r:id="rId2"/>
              </a:rPr>
              <a:t> </a:t>
            </a:r>
            <a:r>
              <a:rPr lang="sl-SI" sz="2400" dirty="0" err="1">
                <a:solidFill>
                  <a:schemeClr val="bg1"/>
                </a:solidFill>
                <a:hlinkClick r:id="rId2"/>
              </a:rPr>
              <a:t>details</a:t>
            </a:r>
            <a:endParaRPr lang="sl-SI" sz="2400" dirty="0">
              <a:solidFill>
                <a:schemeClr val="bg1"/>
              </a:solidFill>
            </a:endParaRPr>
          </a:p>
          <a:p>
            <a:r>
              <a:rPr lang="sl-SI" sz="2400" dirty="0" err="1">
                <a:solidFill>
                  <a:schemeClr val="bg1"/>
                </a:solidFill>
              </a:rPr>
              <a:t>Parameters</a:t>
            </a:r>
            <a:r>
              <a:rPr lang="sl-SI" sz="2400" dirty="0">
                <a:solidFill>
                  <a:schemeClr val="bg1"/>
                </a:solidFill>
              </a:rPr>
              <a:t> to be </a:t>
            </a:r>
            <a:r>
              <a:rPr lang="sl-SI" sz="2400" dirty="0" err="1">
                <a:solidFill>
                  <a:schemeClr val="bg1"/>
                </a:solidFill>
              </a:rPr>
              <a:t>optimized</a:t>
            </a:r>
            <a:r>
              <a:rPr lang="sl-SI" sz="2400" dirty="0">
                <a:solidFill>
                  <a:schemeClr val="bg1"/>
                </a:solidFill>
              </a:rPr>
              <a:t>, </a:t>
            </a:r>
            <a:r>
              <a:rPr lang="sl-SI" sz="2400" dirty="0" err="1">
                <a:solidFill>
                  <a:schemeClr val="bg1"/>
                </a:solidFill>
              </a:rPr>
              <a:t>qulatitative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analysis</a:t>
            </a:r>
            <a:r>
              <a:rPr lang="sl-SI" sz="2400" dirty="0">
                <a:solidFill>
                  <a:schemeClr val="bg1"/>
                </a:solidFill>
              </a:rPr>
              <a:t> (</a:t>
            </a:r>
            <a:r>
              <a:rPr lang="sl-SI" sz="2400" dirty="0" err="1">
                <a:solidFill>
                  <a:schemeClr val="bg1"/>
                </a:solidFill>
              </a:rPr>
              <a:t>probably</a:t>
            </a:r>
            <a:r>
              <a:rPr lang="sl-SI" sz="2400" dirty="0">
                <a:solidFill>
                  <a:schemeClr val="bg1"/>
                </a:solidFill>
              </a:rPr>
              <a:t>) </a:t>
            </a:r>
            <a:r>
              <a:rPr lang="sl-SI" sz="2400" dirty="0" err="1">
                <a:solidFill>
                  <a:schemeClr val="bg1"/>
                </a:solidFill>
              </a:rPr>
              <a:t>needed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DAEE4F09-029D-D8A4-D367-9ECE5EFB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B753E0FB-3214-4C99-2DCC-D7D80A62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21</a:t>
            </a:fld>
            <a:endParaRPr lang="sl-SI"/>
          </a:p>
        </p:txBody>
      </p:sp>
      <p:sp>
        <p:nvSpPr>
          <p:cNvPr id="6" name="Pravokotnik 5">
            <a:extLst>
              <a:ext uri="{FF2B5EF4-FFF2-40B4-BE49-F238E27FC236}">
                <a16:creationId xmlns:a16="http://schemas.microsoft.com/office/drawing/2014/main" id="{2869E6BF-79C0-03A4-CD76-4B7E6100C066}"/>
              </a:ext>
            </a:extLst>
          </p:cNvPr>
          <p:cNvSpPr/>
          <p:nvPr/>
        </p:nvSpPr>
        <p:spPr>
          <a:xfrm>
            <a:off x="0" y="484558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8" name="Naslov 1">
            <a:extLst>
              <a:ext uri="{FF2B5EF4-FFF2-40B4-BE49-F238E27FC236}">
                <a16:creationId xmlns:a16="http://schemas.microsoft.com/office/drawing/2014/main" id="{DE13F569-0346-22A5-9E50-473B658A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</a:rPr>
              <a:t>Architectures</a:t>
            </a:r>
            <a:r>
              <a:rPr lang="sl-SI" sz="4000" b="1" dirty="0">
                <a:solidFill>
                  <a:schemeClr val="bg1"/>
                </a:solidFill>
              </a:rPr>
              <a:t> + </a:t>
            </a:r>
            <a:r>
              <a:rPr lang="sl-SI" sz="4000" b="1" dirty="0" err="1">
                <a:solidFill>
                  <a:schemeClr val="bg1"/>
                </a:solidFill>
              </a:rPr>
              <a:t>weight</a:t>
            </a:r>
            <a:r>
              <a:rPr lang="sl-SI" sz="4000" b="1" dirty="0">
                <a:solidFill>
                  <a:schemeClr val="bg1"/>
                </a:solidFill>
              </a:rPr>
              <a:t> </a:t>
            </a:r>
            <a:r>
              <a:rPr lang="sl-SI" sz="4000" b="1" dirty="0" err="1">
                <a:solidFill>
                  <a:schemeClr val="bg1"/>
                </a:solidFill>
              </a:rPr>
              <a:t>calculations</a:t>
            </a:r>
            <a:endParaRPr lang="sl-SI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683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avokotnik 9">
            <a:extLst>
              <a:ext uri="{FF2B5EF4-FFF2-40B4-BE49-F238E27FC236}">
                <a16:creationId xmlns:a16="http://schemas.microsoft.com/office/drawing/2014/main" id="{FFCCE21E-3DE7-9397-8A9A-3BA403E6916B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A6E4A0D-B93E-75F9-B92C-1B5AA2E7C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</a:rPr>
              <a:t>Training</a:t>
            </a:r>
            <a:r>
              <a:rPr lang="sl-SI" sz="4000" b="1" dirty="0">
                <a:solidFill>
                  <a:schemeClr val="bg1"/>
                </a:solidFill>
              </a:rPr>
              <a:t>/</a:t>
            </a:r>
            <a:r>
              <a:rPr lang="sl-SI" sz="4000" b="1" dirty="0" err="1">
                <a:solidFill>
                  <a:schemeClr val="bg1"/>
                </a:solidFill>
              </a:rPr>
              <a:t>validation</a:t>
            </a:r>
            <a:r>
              <a:rPr lang="sl-SI" sz="4000" b="1" dirty="0">
                <a:solidFill>
                  <a:schemeClr val="bg1"/>
                </a:solidFill>
              </a:rPr>
              <a:t> </a:t>
            </a:r>
            <a:r>
              <a:rPr lang="sl-SI" sz="4000" b="1" dirty="0" err="1">
                <a:solidFill>
                  <a:schemeClr val="bg1"/>
                </a:solidFill>
              </a:rPr>
              <a:t>loss</a:t>
            </a:r>
            <a:endParaRPr lang="sl-SI" sz="4000" b="1" dirty="0">
              <a:solidFill>
                <a:schemeClr val="bg1"/>
              </a:solidFill>
            </a:endParaRPr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51C4969E-50BE-D17B-6823-BE842F2ACD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236" y="1488762"/>
            <a:ext cx="4122596" cy="4475847"/>
          </a:xfrm>
        </p:spPr>
      </p:pic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95F8D67A-5F38-EEB6-B4BF-CCA091AAD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52A4C4E0-B502-F67C-88F9-ADC94DF69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22</a:t>
            </a:fld>
            <a:endParaRPr lang="sl-SI"/>
          </a:p>
        </p:txBody>
      </p:sp>
      <p:pic>
        <p:nvPicPr>
          <p:cNvPr id="7" name="Slika 6" descr="Slika, ki vsebuje besede besedilo, grafični prikaz, vrstica, diagram&#10;&#10;Vsebina, ustvarjena z UI, morda ni pravilna.">
            <a:extLst>
              <a:ext uri="{FF2B5EF4-FFF2-40B4-BE49-F238E27FC236}">
                <a16:creationId xmlns:a16="http://schemas.microsoft.com/office/drawing/2014/main" id="{CE6EDD05-1ECA-6F76-BA70-82E0F868A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170" y="1488762"/>
            <a:ext cx="4054353" cy="4475847"/>
          </a:xfrm>
          <a:prstGeom prst="rect">
            <a:avLst/>
          </a:prstGeom>
        </p:spPr>
      </p:pic>
      <p:sp>
        <p:nvSpPr>
          <p:cNvPr id="8" name="PoljeZBesedilom 7">
            <a:extLst>
              <a:ext uri="{FF2B5EF4-FFF2-40B4-BE49-F238E27FC236}">
                <a16:creationId xmlns:a16="http://schemas.microsoft.com/office/drawing/2014/main" id="{43D884FA-5ED7-4108-07AF-AB1DB646B664}"/>
              </a:ext>
            </a:extLst>
          </p:cNvPr>
          <p:cNvSpPr txBox="1"/>
          <p:nvPr/>
        </p:nvSpPr>
        <p:spPr>
          <a:xfrm>
            <a:off x="3000241" y="6010288"/>
            <a:ext cx="1619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2400" b="1" dirty="0">
                <a:solidFill>
                  <a:schemeClr val="bg1"/>
                </a:solidFill>
                <a:latin typeface="Calibri Light" panose="020F0302020204030204" pitchFamily="34" charset="0"/>
              </a:rPr>
              <a:t>DDPM </a:t>
            </a:r>
          </a:p>
        </p:txBody>
      </p:sp>
      <p:sp>
        <p:nvSpPr>
          <p:cNvPr id="9" name="PoljeZBesedilom 8">
            <a:extLst>
              <a:ext uri="{FF2B5EF4-FFF2-40B4-BE49-F238E27FC236}">
                <a16:creationId xmlns:a16="http://schemas.microsoft.com/office/drawing/2014/main" id="{4D4FB34B-4F7C-4600-4B03-D6C942126A22}"/>
              </a:ext>
            </a:extLst>
          </p:cNvPr>
          <p:cNvSpPr txBox="1"/>
          <p:nvPr/>
        </p:nvSpPr>
        <p:spPr>
          <a:xfrm>
            <a:off x="7484109" y="6010288"/>
            <a:ext cx="22529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2400" b="1" dirty="0">
                <a:solidFill>
                  <a:schemeClr val="bg1"/>
                </a:solidFill>
                <a:latin typeface="Calibri Light" panose="020F0302020204030204" pitchFamily="34" charset="0"/>
              </a:rPr>
              <a:t>EDM (xl model)</a:t>
            </a:r>
          </a:p>
        </p:txBody>
      </p:sp>
    </p:spTree>
    <p:extLst>
      <p:ext uri="{BB962C8B-B14F-4D97-AF65-F5344CB8AC3E}">
        <p14:creationId xmlns:p14="http://schemas.microsoft.com/office/powerpoint/2010/main" val="593250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F23DD-1AF6-C9AB-0441-B066E63CE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Skupina 9">
            <a:extLst>
              <a:ext uri="{FF2B5EF4-FFF2-40B4-BE49-F238E27FC236}">
                <a16:creationId xmlns:a16="http://schemas.microsoft.com/office/drawing/2014/main" id="{6613EBC5-7D42-D420-36A9-CEA3C0633D0E}"/>
              </a:ext>
            </a:extLst>
          </p:cNvPr>
          <p:cNvGrpSpPr/>
          <p:nvPr/>
        </p:nvGrpSpPr>
        <p:grpSpPr>
          <a:xfrm>
            <a:off x="432462" y="417588"/>
            <a:ext cx="11327076" cy="6021341"/>
            <a:chOff x="-8056" y="478393"/>
            <a:chExt cx="12192000" cy="6481125"/>
          </a:xfrm>
        </p:grpSpPr>
        <p:sp>
          <p:nvSpPr>
            <p:cNvPr id="17" name="PoljeZBesedilom 16">
              <a:extLst>
                <a:ext uri="{FF2B5EF4-FFF2-40B4-BE49-F238E27FC236}">
                  <a16:creationId xmlns:a16="http://schemas.microsoft.com/office/drawing/2014/main" id="{49571109-A0DE-8340-3865-06E4BBA2ED45}"/>
                </a:ext>
              </a:extLst>
            </p:cNvPr>
            <p:cNvSpPr txBox="1"/>
            <p:nvPr/>
          </p:nvSpPr>
          <p:spPr>
            <a:xfrm>
              <a:off x="10553699" y="478393"/>
              <a:ext cx="1630245" cy="40608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0/190</a:t>
              </a:r>
            </a:p>
          </p:txBody>
        </p:sp>
        <p:pic>
          <p:nvPicPr>
            <p:cNvPr id="4" name="Slika 3">
              <a:extLst>
                <a:ext uri="{FF2B5EF4-FFF2-40B4-BE49-F238E27FC236}">
                  <a16:creationId xmlns:a16="http://schemas.microsoft.com/office/drawing/2014/main" id="{A42CAEA6-3F1A-CC29-3AC3-13E2F108A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8056" y="863518"/>
              <a:ext cx="12192000" cy="6096000"/>
            </a:xfrm>
            <a:prstGeom prst="rect">
              <a:avLst/>
            </a:prstGeom>
          </p:spPr>
        </p:pic>
      </p:grpSp>
      <p:grpSp>
        <p:nvGrpSpPr>
          <p:cNvPr id="7" name="Skupina 6">
            <a:extLst>
              <a:ext uri="{FF2B5EF4-FFF2-40B4-BE49-F238E27FC236}">
                <a16:creationId xmlns:a16="http://schemas.microsoft.com/office/drawing/2014/main" id="{121F9F1A-B723-1257-6569-0B2441147118}"/>
              </a:ext>
            </a:extLst>
          </p:cNvPr>
          <p:cNvGrpSpPr/>
          <p:nvPr/>
        </p:nvGrpSpPr>
        <p:grpSpPr>
          <a:xfrm>
            <a:off x="432462" y="417588"/>
            <a:ext cx="11327076" cy="6021341"/>
            <a:chOff x="0" y="478393"/>
            <a:chExt cx="12192000" cy="6481125"/>
          </a:xfrm>
        </p:grpSpPr>
        <p:sp>
          <p:nvSpPr>
            <p:cNvPr id="18" name="PoljeZBesedilom 17">
              <a:extLst>
                <a:ext uri="{FF2B5EF4-FFF2-40B4-BE49-F238E27FC236}">
                  <a16:creationId xmlns:a16="http://schemas.microsoft.com/office/drawing/2014/main" id="{121938A1-09F0-0845-A8D7-6863AF4DA986}"/>
                </a:ext>
              </a:extLst>
            </p:cNvPr>
            <p:cNvSpPr txBox="1"/>
            <p:nvPr/>
          </p:nvSpPr>
          <p:spPr>
            <a:xfrm>
              <a:off x="10423004" y="478393"/>
              <a:ext cx="1768996" cy="39767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114/190</a:t>
              </a:r>
            </a:p>
          </p:txBody>
        </p:sp>
        <p:pic>
          <p:nvPicPr>
            <p:cNvPr id="6" name="Slika 5">
              <a:extLst>
                <a:ext uri="{FF2B5EF4-FFF2-40B4-BE49-F238E27FC236}">
                  <a16:creationId xmlns:a16="http://schemas.microsoft.com/office/drawing/2014/main" id="{835F028E-6C96-991C-1B3D-5FB90301F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63518"/>
              <a:ext cx="12192000" cy="6096000"/>
            </a:xfrm>
            <a:prstGeom prst="rect">
              <a:avLst/>
            </a:prstGeom>
          </p:spPr>
        </p:pic>
      </p:grpSp>
      <p:sp>
        <p:nvSpPr>
          <p:cNvPr id="2" name="Naslov 1">
            <a:extLst>
              <a:ext uri="{FF2B5EF4-FFF2-40B4-BE49-F238E27FC236}">
                <a16:creationId xmlns:a16="http://schemas.microsoft.com/office/drawing/2014/main" id="{76FB3778-2DA8-99AA-0785-9C96D3487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830" y="-248154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Training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samples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snapshots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for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DDPM</a:t>
            </a:r>
          </a:p>
        </p:txBody>
      </p:sp>
      <p:grpSp>
        <p:nvGrpSpPr>
          <p:cNvPr id="9" name="Skupina 8">
            <a:extLst>
              <a:ext uri="{FF2B5EF4-FFF2-40B4-BE49-F238E27FC236}">
                <a16:creationId xmlns:a16="http://schemas.microsoft.com/office/drawing/2014/main" id="{4FAE0CA3-6C99-237A-A5DC-7214A62B57CF}"/>
              </a:ext>
            </a:extLst>
          </p:cNvPr>
          <p:cNvGrpSpPr/>
          <p:nvPr/>
        </p:nvGrpSpPr>
        <p:grpSpPr>
          <a:xfrm>
            <a:off x="450777" y="417588"/>
            <a:ext cx="11327076" cy="6021341"/>
            <a:chOff x="0" y="478393"/>
            <a:chExt cx="12192000" cy="6481125"/>
          </a:xfrm>
        </p:grpSpPr>
        <p:sp>
          <p:nvSpPr>
            <p:cNvPr id="19" name="PoljeZBesedilom 18">
              <a:extLst>
                <a:ext uri="{FF2B5EF4-FFF2-40B4-BE49-F238E27FC236}">
                  <a16:creationId xmlns:a16="http://schemas.microsoft.com/office/drawing/2014/main" id="{A4BC9E40-1876-B0FC-C6B7-9F8095AAFE20}"/>
                </a:ext>
              </a:extLst>
            </p:cNvPr>
            <p:cNvSpPr txBox="1"/>
            <p:nvPr/>
          </p:nvSpPr>
          <p:spPr>
            <a:xfrm>
              <a:off x="10310287" y="478393"/>
              <a:ext cx="1881713" cy="40608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190/196</a:t>
              </a:r>
            </a:p>
          </p:txBody>
        </p:sp>
        <p:pic>
          <p:nvPicPr>
            <p:cNvPr id="8" name="Slika 7">
              <a:extLst>
                <a:ext uri="{FF2B5EF4-FFF2-40B4-BE49-F238E27FC236}">
                  <a16:creationId xmlns:a16="http://schemas.microsoft.com/office/drawing/2014/main" id="{FAF599E5-8E57-7979-44AF-29009E4B90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63518"/>
              <a:ext cx="12192000" cy="6096000"/>
            </a:xfrm>
            <a:prstGeom prst="rect">
              <a:avLst/>
            </a:prstGeom>
          </p:spPr>
        </p:pic>
      </p:grp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CFDEA1A5-BFC9-373B-9CE4-7186EFAD6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4150" y="6438929"/>
            <a:ext cx="3743700" cy="332196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30090191-C7B8-9EBC-CD14-BF98A5D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7695" y="6438929"/>
            <a:ext cx="2495799" cy="332196"/>
          </a:xfrm>
        </p:spPr>
        <p:txBody>
          <a:bodyPr/>
          <a:lstStyle/>
          <a:p>
            <a:fld id="{C5B056C3-474E-40CD-87BE-C691853342BB}" type="slidenum">
              <a:rPr lang="sl-SI" smtClean="0"/>
              <a:t>23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152749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47C25-310A-1608-EAA6-191D14FB3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Skupina 5">
            <a:extLst>
              <a:ext uri="{FF2B5EF4-FFF2-40B4-BE49-F238E27FC236}">
                <a16:creationId xmlns:a16="http://schemas.microsoft.com/office/drawing/2014/main" id="{77E49E56-F453-050E-946D-E00DE799362F}"/>
              </a:ext>
            </a:extLst>
          </p:cNvPr>
          <p:cNvGrpSpPr/>
          <p:nvPr/>
        </p:nvGrpSpPr>
        <p:grpSpPr>
          <a:xfrm>
            <a:off x="434512" y="424708"/>
            <a:ext cx="11322976" cy="6008587"/>
            <a:chOff x="0" y="370736"/>
            <a:chExt cx="12192000" cy="6487264"/>
          </a:xfrm>
        </p:grpSpPr>
        <p:sp>
          <p:nvSpPr>
            <p:cNvPr id="17" name="PoljeZBesedilom 16">
              <a:extLst>
                <a:ext uri="{FF2B5EF4-FFF2-40B4-BE49-F238E27FC236}">
                  <a16:creationId xmlns:a16="http://schemas.microsoft.com/office/drawing/2014/main" id="{10285027-21FB-E5C5-D379-1AB2800A43DA}"/>
                </a:ext>
              </a:extLst>
            </p:cNvPr>
            <p:cNvSpPr txBox="1"/>
            <p:nvPr/>
          </p:nvSpPr>
          <p:spPr>
            <a:xfrm>
              <a:off x="10591800" y="370736"/>
              <a:ext cx="1600200" cy="3988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0/190</a:t>
              </a:r>
            </a:p>
          </p:txBody>
        </p:sp>
        <p:pic>
          <p:nvPicPr>
            <p:cNvPr id="5" name="Slika 4">
              <a:extLst>
                <a:ext uri="{FF2B5EF4-FFF2-40B4-BE49-F238E27FC236}">
                  <a16:creationId xmlns:a16="http://schemas.microsoft.com/office/drawing/2014/main" id="{D0DBF7E1-1FE1-6D64-0FF4-3C5FB4FEC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762000"/>
              <a:ext cx="12192000" cy="6096000"/>
            </a:xfrm>
            <a:prstGeom prst="rect">
              <a:avLst/>
            </a:prstGeom>
          </p:spPr>
        </p:pic>
      </p:grpSp>
      <p:sp>
        <p:nvSpPr>
          <p:cNvPr id="2" name="Naslov 1">
            <a:extLst>
              <a:ext uri="{FF2B5EF4-FFF2-40B4-BE49-F238E27FC236}">
                <a16:creationId xmlns:a16="http://schemas.microsoft.com/office/drawing/2014/main" id="{E2CA5A42-9767-879A-4A43-77B3CDA16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378" y="-108411"/>
            <a:ext cx="10353586" cy="1066236"/>
          </a:xfrm>
        </p:spPr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Training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samples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snapshots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for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EDM xl</a:t>
            </a:r>
          </a:p>
        </p:txBody>
      </p:sp>
      <p:grpSp>
        <p:nvGrpSpPr>
          <p:cNvPr id="7" name="Skupina 6">
            <a:extLst>
              <a:ext uri="{FF2B5EF4-FFF2-40B4-BE49-F238E27FC236}">
                <a16:creationId xmlns:a16="http://schemas.microsoft.com/office/drawing/2014/main" id="{57B3EB98-832D-B77E-54B7-0A15295413FD}"/>
              </a:ext>
            </a:extLst>
          </p:cNvPr>
          <p:cNvGrpSpPr/>
          <p:nvPr/>
        </p:nvGrpSpPr>
        <p:grpSpPr>
          <a:xfrm>
            <a:off x="434512" y="399610"/>
            <a:ext cx="11322976" cy="6043310"/>
            <a:chOff x="0" y="333244"/>
            <a:chExt cx="12192000" cy="6524756"/>
          </a:xfrm>
        </p:grpSpPr>
        <p:sp>
          <p:nvSpPr>
            <p:cNvPr id="18" name="PoljeZBesedilom 17">
              <a:extLst>
                <a:ext uri="{FF2B5EF4-FFF2-40B4-BE49-F238E27FC236}">
                  <a16:creationId xmlns:a16="http://schemas.microsoft.com/office/drawing/2014/main" id="{AD2DEF3B-3DAC-2A3D-FDB6-5F007EA7DB5E}"/>
                </a:ext>
              </a:extLst>
            </p:cNvPr>
            <p:cNvSpPr txBox="1"/>
            <p:nvPr/>
          </p:nvSpPr>
          <p:spPr>
            <a:xfrm>
              <a:off x="10519000" y="333244"/>
              <a:ext cx="1673000" cy="3988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96/190</a:t>
              </a:r>
            </a:p>
          </p:txBody>
        </p:sp>
        <p:pic>
          <p:nvPicPr>
            <p:cNvPr id="9" name="Slika 8">
              <a:extLst>
                <a:ext uri="{FF2B5EF4-FFF2-40B4-BE49-F238E27FC236}">
                  <a16:creationId xmlns:a16="http://schemas.microsoft.com/office/drawing/2014/main" id="{2C2F0A2C-DA62-0062-CAF8-595ED9F3A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762000"/>
              <a:ext cx="12192000" cy="6096000"/>
            </a:xfrm>
            <a:prstGeom prst="rect">
              <a:avLst/>
            </a:prstGeom>
          </p:spPr>
        </p:pic>
      </p:grp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A3B0A4DE-4DA3-BD92-438F-DD0F81233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6267" y="6439807"/>
            <a:ext cx="3859465" cy="342468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0C9A40AB-022E-A822-AA07-445DCA811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9435" y="6455181"/>
            <a:ext cx="2572978" cy="342468"/>
          </a:xfrm>
        </p:spPr>
        <p:txBody>
          <a:bodyPr/>
          <a:lstStyle/>
          <a:p>
            <a:fld id="{C5B056C3-474E-40CD-87BE-C691853342BB}" type="slidenum">
              <a:rPr lang="sl-SI" smtClean="0"/>
              <a:t>24</a:t>
            </a:fld>
            <a:endParaRPr lang="sl-SI"/>
          </a:p>
        </p:txBody>
      </p:sp>
      <p:grpSp>
        <p:nvGrpSpPr>
          <p:cNvPr id="8" name="Skupina 7">
            <a:extLst>
              <a:ext uri="{FF2B5EF4-FFF2-40B4-BE49-F238E27FC236}">
                <a16:creationId xmlns:a16="http://schemas.microsoft.com/office/drawing/2014/main" id="{726A9554-7253-EDB6-C848-42DA2C4A9A7F}"/>
              </a:ext>
            </a:extLst>
          </p:cNvPr>
          <p:cNvGrpSpPr/>
          <p:nvPr/>
        </p:nvGrpSpPr>
        <p:grpSpPr>
          <a:xfrm>
            <a:off x="434512" y="411130"/>
            <a:ext cx="11322978" cy="6031790"/>
            <a:chOff x="1" y="345354"/>
            <a:chExt cx="12192000" cy="6512316"/>
          </a:xfrm>
        </p:grpSpPr>
        <p:pic>
          <p:nvPicPr>
            <p:cNvPr id="11" name="Slika 10">
              <a:extLst>
                <a:ext uri="{FF2B5EF4-FFF2-40B4-BE49-F238E27FC236}">
                  <a16:creationId xmlns:a16="http://schemas.microsoft.com/office/drawing/2014/main" id="{077D84FE-C2DD-C17D-3962-C3B5D32448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761670"/>
              <a:ext cx="12192000" cy="6096000"/>
            </a:xfrm>
            <a:prstGeom prst="rect">
              <a:avLst/>
            </a:prstGeom>
          </p:spPr>
        </p:pic>
        <p:sp>
          <p:nvSpPr>
            <p:cNvPr id="19" name="PoljeZBesedilom 18">
              <a:extLst>
                <a:ext uri="{FF2B5EF4-FFF2-40B4-BE49-F238E27FC236}">
                  <a16:creationId xmlns:a16="http://schemas.microsoft.com/office/drawing/2014/main" id="{C7253934-9FB4-D391-230E-799AB3C6A6E0}"/>
                </a:ext>
              </a:extLst>
            </p:cNvPr>
            <p:cNvSpPr txBox="1"/>
            <p:nvPr/>
          </p:nvSpPr>
          <p:spPr>
            <a:xfrm>
              <a:off x="10389327" y="345354"/>
              <a:ext cx="1802674" cy="3988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192/196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89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avokotnik 2">
            <a:extLst>
              <a:ext uri="{FF2B5EF4-FFF2-40B4-BE49-F238E27FC236}">
                <a16:creationId xmlns:a16="http://schemas.microsoft.com/office/drawing/2014/main" id="{6466E299-ED0E-25E4-AAC9-5C4B7990B144}"/>
              </a:ext>
            </a:extLst>
          </p:cNvPr>
          <p:cNvSpPr/>
          <p:nvPr/>
        </p:nvSpPr>
        <p:spPr>
          <a:xfrm>
            <a:off x="0" y="451878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08343FC4-9967-2679-A465-D3E6E0D4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468" y="326420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</a:rPr>
              <a:t>Parameters</a:t>
            </a:r>
            <a:r>
              <a:rPr lang="sl-SI" sz="4000" b="1" dirty="0">
                <a:solidFill>
                  <a:schemeClr val="bg1"/>
                </a:solidFill>
              </a:rPr>
              <a:t>/SDE </a:t>
            </a:r>
            <a:r>
              <a:rPr lang="sl-SI" sz="4000" b="1" dirty="0" err="1">
                <a:solidFill>
                  <a:schemeClr val="bg1"/>
                </a:solidFill>
              </a:rPr>
              <a:t>models</a:t>
            </a:r>
            <a:r>
              <a:rPr lang="sl-SI" sz="4000" b="1" dirty="0">
                <a:solidFill>
                  <a:schemeClr val="bg1"/>
                </a:solidFill>
              </a:rPr>
              <a:t> </a:t>
            </a:r>
            <a:r>
              <a:rPr lang="sl-SI" sz="4000" b="1" dirty="0" err="1">
                <a:solidFill>
                  <a:schemeClr val="bg1"/>
                </a:solidFill>
              </a:rPr>
              <a:t>overview</a:t>
            </a:r>
            <a:endParaRPr lang="sl-SI" sz="4000" b="1" dirty="0">
              <a:solidFill>
                <a:schemeClr val="bg1"/>
              </a:solidFill>
            </a:endParaRP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9EF9CC24-4A5E-6925-0AF9-E0A25A344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991F9F9B-EB6C-812F-E2A3-7808B560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25</a:t>
            </a:fld>
            <a:endParaRPr lang="sl-SI"/>
          </a:p>
        </p:txBody>
      </p:sp>
      <p:pic>
        <p:nvPicPr>
          <p:cNvPr id="8" name="Slika 7" descr="Slika, ki vsebuje besede besedilo, posnetek zaslona, pisava, številka&#10;&#10;Vsebina, ustvarjena z UI, morda ni pravilna.">
            <a:extLst>
              <a:ext uri="{FF2B5EF4-FFF2-40B4-BE49-F238E27FC236}">
                <a16:creationId xmlns:a16="http://schemas.microsoft.com/office/drawing/2014/main" id="{9C531F84-A488-B59C-D030-256B1CF9D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064" y="1531337"/>
            <a:ext cx="7960408" cy="479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2377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kotnik 4">
            <a:extLst>
              <a:ext uri="{FF2B5EF4-FFF2-40B4-BE49-F238E27FC236}">
                <a16:creationId xmlns:a16="http://schemas.microsoft.com/office/drawing/2014/main" id="{A2D444C9-1EEA-4502-B357-36664847EA31}"/>
              </a:ext>
            </a:extLst>
          </p:cNvPr>
          <p:cNvSpPr/>
          <p:nvPr/>
        </p:nvSpPr>
        <p:spPr>
          <a:xfrm>
            <a:off x="-1" y="382469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EA97C9FD-4BA5-CDE7-3A7F-EBF2FE54D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49011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</a:rPr>
              <a:t>Diffusion</a:t>
            </a:r>
            <a:r>
              <a:rPr lang="sl-SI" sz="4000" b="1" dirty="0">
                <a:solidFill>
                  <a:schemeClr val="bg1"/>
                </a:solidFill>
              </a:rPr>
              <a:t> </a:t>
            </a:r>
            <a:r>
              <a:rPr lang="sl-SI" sz="4000" b="1" dirty="0" err="1">
                <a:solidFill>
                  <a:schemeClr val="bg1"/>
                </a:solidFill>
              </a:rPr>
              <a:t>models</a:t>
            </a:r>
            <a:r>
              <a:rPr lang="sl-SI" sz="4000" b="1" dirty="0">
                <a:solidFill>
                  <a:schemeClr val="bg1"/>
                </a:solidFill>
              </a:rPr>
              <a:t> general </a:t>
            </a:r>
            <a:r>
              <a:rPr lang="sl-SI" sz="4000" b="1" dirty="0" err="1">
                <a:solidFill>
                  <a:schemeClr val="bg1"/>
                </a:solidFill>
              </a:rPr>
              <a:t>overview</a:t>
            </a:r>
            <a:endParaRPr lang="sl-SI" sz="4000" b="1" dirty="0">
              <a:solidFill>
                <a:schemeClr val="bg1"/>
              </a:solidFill>
            </a:endParaRP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6A44E828-4D6A-2A90-2B00-B79B2E191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D7CD60AF-88FD-D183-AC64-479195318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26</a:t>
            </a:fld>
            <a:endParaRPr lang="sl-SI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E4073180-3582-9DB1-0983-C4F4D6EC4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83303" y="1336470"/>
            <a:ext cx="16358605" cy="552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3451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403A7C7-54BB-97D6-D1C5-56461BBC5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D4166AE5-DC92-7595-91B2-0492DF76D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29358206-2B8D-7A40-1525-729A17F2B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27</a:t>
            </a:fld>
            <a:endParaRPr lang="sl-SI"/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8AAECF33-9682-0D9C-2E4E-A4051C770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70141" y="-555597"/>
            <a:ext cx="16332281" cy="796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486084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6F8501C-A113-6E2B-BF33-1DD027350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7450602B-1B22-E617-4EB1-175C4C275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1635E37F-3695-3E2D-404E-B216A2872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28</a:t>
            </a:fld>
            <a:endParaRPr lang="sl-SI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D980B5B2-B28E-D438-5A19-F6B8B182F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70141" y="-705041"/>
            <a:ext cx="16332282" cy="756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21669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o meri 1">
      <a:majorFont>
        <a:latin typeface="Noah Text Heavy"/>
        <a:ea typeface=""/>
        <a:cs typeface=""/>
      </a:majorFont>
      <a:minorFont>
        <a:latin typeface="Noah Text"/>
        <a:ea typeface=""/>
        <a:cs typeface="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39764</TotalTime>
  <Words>841</Words>
  <Application>Microsoft Office PowerPoint</Application>
  <PresentationFormat>Širokozaslonsko</PresentationFormat>
  <Paragraphs>158</Paragraphs>
  <Slides>28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4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Officeova tema</vt:lpstr>
      <vt:lpstr>Diffusion models for simulating distributions of observables</vt:lpstr>
      <vt:lpstr>Introduction</vt:lpstr>
      <vt:lpstr>DDPM/stohastic frameworks</vt:lpstr>
      <vt:lpstr>DDPM sampling</vt:lpstr>
      <vt:lpstr>C2ST tests</vt:lpstr>
      <vt:lpstr>Score based frameworks</vt:lpstr>
      <vt:lpstr>VP, VE, VP (conv. net) samples</vt:lpstr>
      <vt:lpstr>EDM, EDM2 samples</vt:lpstr>
      <vt:lpstr>PowerPointova predstavitev</vt:lpstr>
      <vt:lpstr>EDM sampling problems</vt:lpstr>
      <vt:lpstr>EDM training</vt:lpstr>
      <vt:lpstr>Training samples snapshots for EDM</vt:lpstr>
      <vt:lpstr>Distribution distances</vt:lpstr>
      <vt:lpstr>Ratio tests </vt:lpstr>
      <vt:lpstr>Distributions after the cut</vt:lpstr>
      <vt:lpstr>Sig.-Bkg. ratios</vt:lpstr>
      <vt:lpstr>PowerPointova predstavitev</vt:lpstr>
      <vt:lpstr>Todo list </vt:lpstr>
      <vt:lpstr>Conclusions </vt:lpstr>
      <vt:lpstr>Supplementary info</vt:lpstr>
      <vt:lpstr>Architectures + weight calculations</vt:lpstr>
      <vt:lpstr>Training/validation loss</vt:lpstr>
      <vt:lpstr>Training samples snapshots for DDPM</vt:lpstr>
      <vt:lpstr>Training samples snapshots for EDM xl</vt:lpstr>
      <vt:lpstr>Parameters/SDE models overview</vt:lpstr>
      <vt:lpstr>Diffusion models general overview</vt:lpstr>
      <vt:lpstr>PowerPointova predstavitev</vt:lpstr>
      <vt:lpstr>PowerPointova predstavitev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Uporabnik</dc:creator>
  <cp:lastModifiedBy>Uporabnik</cp:lastModifiedBy>
  <cp:revision>85</cp:revision>
  <dcterms:created xsi:type="dcterms:W3CDTF">2025-10-14T13:23:34Z</dcterms:created>
  <dcterms:modified xsi:type="dcterms:W3CDTF">2026-01-11T19:19:08Z</dcterms:modified>
</cp:coreProperties>
</file>